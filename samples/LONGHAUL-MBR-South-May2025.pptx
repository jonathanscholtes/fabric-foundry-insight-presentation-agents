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EA2391-A0E5-47E1-AE35-57520531FEB0}" v="15" dt="2026-06-22T15:15:18.2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90"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Scholtes" userId="e880d0af-1f43-427b-913b-f3abafcb9228" providerId="ADAL" clId="{953A541B-BE96-470D-8FB3-572B734343FF}"/>
    <pc:docChg chg="modSld">
      <pc:chgData name="Jonathan Scholtes" userId="e880d0af-1f43-427b-913b-f3abafcb9228" providerId="ADAL" clId="{953A541B-BE96-470D-8FB3-572B734343FF}" dt="2026-06-22T15:17:25.926" v="2" actId="255"/>
      <pc:docMkLst>
        <pc:docMk/>
      </pc:docMkLst>
      <pc:sldChg chg="modSp mod">
        <pc:chgData name="Jonathan Scholtes" userId="e880d0af-1f43-427b-913b-f3abafcb9228" providerId="ADAL" clId="{953A541B-BE96-470D-8FB3-572B734343FF}" dt="2026-06-22T15:17:25.926" v="2" actId="255"/>
        <pc:sldMkLst>
          <pc:docMk/>
          <pc:sldMk cId="0" sldId="262"/>
        </pc:sldMkLst>
        <pc:spChg chg="mod">
          <ac:chgData name="Jonathan Scholtes" userId="e880d0af-1f43-427b-913b-f3abafcb9228" providerId="ADAL" clId="{953A541B-BE96-470D-8FB3-572B734343FF}" dt="2026-06-22T15:17:21.029" v="1" actId="255"/>
          <ac:spMkLst>
            <pc:docMk/>
            <pc:sldMk cId="0" sldId="262"/>
            <ac:spMk id="7" creationId="{00000000-0000-0000-0000-000000000000}"/>
          </ac:spMkLst>
        </pc:spChg>
        <pc:spChg chg="mod">
          <ac:chgData name="Jonathan Scholtes" userId="e880d0af-1f43-427b-913b-f3abafcb9228" providerId="ADAL" clId="{953A541B-BE96-470D-8FB3-572B734343FF}" dt="2026-06-22T15:17:17.464" v="0" actId="255"/>
          <ac:spMkLst>
            <pc:docMk/>
            <pc:sldMk cId="0" sldId="262"/>
            <ac:spMk id="11" creationId="{00000000-0000-0000-0000-000000000000}"/>
          </ac:spMkLst>
        </pc:spChg>
        <pc:spChg chg="mod">
          <ac:chgData name="Jonathan Scholtes" userId="e880d0af-1f43-427b-913b-f3abafcb9228" providerId="ADAL" clId="{953A541B-BE96-470D-8FB3-572B734343FF}" dt="2026-06-22T15:17:25.926" v="2" actId="255"/>
          <ac:spMkLst>
            <pc:docMk/>
            <pc:sldMk cId="0" sldId="262"/>
            <ac:spMk id="12"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00" b="0" dirty="0">
                <a:effectLst/>
              </a:rPr>
              <a:t>Revenue Trend</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Revenue ($M)</c:v>
                </c:pt>
              </c:strCache>
            </c:strRef>
          </c:tx>
          <c:spPr>
            <a:ln w="28575" cap="rnd">
              <a:solidFill>
                <a:schemeClr val="accent1"/>
              </a:solidFill>
              <a:round/>
            </a:ln>
            <a:effectLst/>
          </c:spPr>
          <c:marker>
            <c:symbol val="none"/>
          </c:marker>
          <c:cat>
            <c:strRef>
              <c:f>Sheet1!$A$2:$A$7</c:f>
              <c:strCache>
                <c:ptCount val="6"/>
                <c:pt idx="0">
                  <c:v>Dec 2024</c:v>
                </c:pt>
                <c:pt idx="1">
                  <c:v>Jan 2025</c:v>
                </c:pt>
                <c:pt idx="2">
                  <c:v>Feb 2025</c:v>
                </c:pt>
                <c:pt idx="3">
                  <c:v>Mar 2025</c:v>
                </c:pt>
                <c:pt idx="4">
                  <c:v>Apr 2025</c:v>
                </c:pt>
                <c:pt idx="5">
                  <c:v>May 2025</c:v>
                </c:pt>
              </c:strCache>
            </c:strRef>
          </c:cat>
          <c:val>
            <c:numRef>
              <c:f>Sheet1!$B$2:$B$7</c:f>
              <c:numCache>
                <c:formatCode>General</c:formatCode>
                <c:ptCount val="6"/>
                <c:pt idx="0">
                  <c:v>11.84</c:v>
                </c:pt>
                <c:pt idx="1">
                  <c:v>11.96</c:v>
                </c:pt>
                <c:pt idx="2">
                  <c:v>12.08</c:v>
                </c:pt>
                <c:pt idx="3">
                  <c:v>12.2</c:v>
                </c:pt>
                <c:pt idx="4">
                  <c:v>12.32</c:v>
                </c:pt>
                <c:pt idx="5">
                  <c:v>12.44</c:v>
                </c:pt>
              </c:numCache>
            </c:numRef>
          </c:val>
          <c:smooth val="0"/>
          <c:extLst>
            <c:ext xmlns:c16="http://schemas.microsoft.com/office/drawing/2014/chart" uri="{C3380CC4-5D6E-409C-BE32-E72D297353CC}">
              <c16:uniqueId val="{00000000-094B-4725-93C2-4048E33C25B7}"/>
            </c:ext>
          </c:extLst>
        </c:ser>
        <c:dLbls>
          <c:showLegendKey val="0"/>
          <c:showVal val="0"/>
          <c:showCatName val="0"/>
          <c:showSerName val="0"/>
          <c:showPercent val="0"/>
          <c:showBubbleSize val="0"/>
        </c:dLbls>
        <c:smooth val="0"/>
        <c:axId val="1137624431"/>
        <c:axId val="1129240783"/>
      </c:lineChart>
      <c:dateAx>
        <c:axId val="1137624431"/>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29240783"/>
        <c:crosses val="autoZero"/>
        <c:auto val="1"/>
        <c:lblOffset val="100"/>
        <c:baseTimeUnit val="months"/>
      </c:dateAx>
      <c:valAx>
        <c:axId val="11292407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376244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00" b="0" dirty="0">
                <a:effectLst/>
              </a:rPr>
              <a:t>Cost Breakdown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Amount</c:v>
                </c:pt>
              </c:strCache>
            </c:strRef>
          </c:tx>
          <c:spPr>
            <a:solidFill>
              <a:schemeClr val="accent1"/>
            </a:solidFill>
            <a:ln>
              <a:noFill/>
            </a:ln>
            <a:effectLst/>
          </c:spPr>
          <c:invertIfNegative val="0"/>
          <c:cat>
            <c:strRef>
              <c:f>Sheet1!$A$2:$A$5</c:f>
              <c:strCache>
                <c:ptCount val="4"/>
                <c:pt idx="0">
                  <c:v>Fuel</c:v>
                </c:pt>
                <c:pt idx="1">
                  <c:v>Labor</c:v>
                </c:pt>
                <c:pt idx="2">
                  <c:v>Maintenance</c:v>
                </c:pt>
                <c:pt idx="3">
                  <c:v>Other</c:v>
                </c:pt>
              </c:strCache>
            </c:strRef>
          </c:cat>
          <c:val>
            <c:numRef>
              <c:f>Sheet1!$B$2:$B$5</c:f>
              <c:numCache>
                <c:formatCode>General</c:formatCode>
                <c:ptCount val="4"/>
                <c:pt idx="0">
                  <c:v>3760000</c:v>
                </c:pt>
                <c:pt idx="1">
                  <c:v>4800000</c:v>
                </c:pt>
                <c:pt idx="2">
                  <c:v>980000</c:v>
                </c:pt>
                <c:pt idx="3">
                  <c:v>1680000</c:v>
                </c:pt>
              </c:numCache>
            </c:numRef>
          </c:val>
          <c:extLst>
            <c:ext xmlns:c16="http://schemas.microsoft.com/office/drawing/2014/chart" uri="{C3380CC4-5D6E-409C-BE32-E72D297353CC}">
              <c16:uniqueId val="{00000000-4262-496B-8E51-EAD9C5FC3963}"/>
            </c:ext>
          </c:extLst>
        </c:ser>
        <c:dLbls>
          <c:showLegendKey val="0"/>
          <c:showVal val="0"/>
          <c:showCatName val="0"/>
          <c:showSerName val="0"/>
          <c:showPercent val="0"/>
          <c:showBubbleSize val="0"/>
        </c:dLbls>
        <c:gapWidth val="219"/>
        <c:overlap val="-27"/>
        <c:axId val="1009809871"/>
        <c:axId val="1129237903"/>
      </c:barChart>
      <c:catAx>
        <c:axId val="100980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29237903"/>
        <c:crosses val="autoZero"/>
        <c:auto val="1"/>
        <c:lblAlgn val="ctr"/>
        <c:lblOffset val="100"/>
        <c:noMultiLvlLbl val="0"/>
      </c:catAx>
      <c:valAx>
        <c:axId val="11292379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098098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00" b="0" dirty="0">
                <a:effectLst/>
              </a:rPr>
              <a:t>Sector Revenue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Revenue ($M)</c:v>
                </c:pt>
              </c:strCache>
            </c:strRef>
          </c:tx>
          <c:spPr>
            <a:solidFill>
              <a:schemeClr val="accent1"/>
            </a:solidFill>
            <a:ln>
              <a:noFill/>
            </a:ln>
            <a:effectLst/>
          </c:spPr>
          <c:invertIfNegative val="0"/>
          <c:cat>
            <c:strRef>
              <c:f>Sheet1!$A$2:$A$2</c:f>
              <c:strCache>
                <c:ptCount val="1"/>
                <c:pt idx="0">
                  <c:v>South</c:v>
                </c:pt>
              </c:strCache>
            </c:strRef>
          </c:cat>
          <c:val>
            <c:numRef>
              <c:f>Sheet1!$B$2:$B$2</c:f>
              <c:numCache>
                <c:formatCode>General</c:formatCode>
                <c:ptCount val="1"/>
                <c:pt idx="0">
                  <c:v>12.44</c:v>
                </c:pt>
              </c:numCache>
            </c:numRef>
          </c:val>
          <c:extLst>
            <c:ext xmlns:c16="http://schemas.microsoft.com/office/drawing/2014/chart" uri="{C3380CC4-5D6E-409C-BE32-E72D297353CC}">
              <c16:uniqueId val="{00000000-DC63-4471-A330-8330265E64D1}"/>
            </c:ext>
          </c:extLst>
        </c:ser>
        <c:dLbls>
          <c:showLegendKey val="0"/>
          <c:showVal val="0"/>
          <c:showCatName val="0"/>
          <c:showSerName val="0"/>
          <c:showPercent val="0"/>
          <c:showBubbleSize val="0"/>
        </c:dLbls>
        <c:gapWidth val="182"/>
        <c:axId val="1215136463"/>
        <c:axId val="473443567"/>
      </c:barChart>
      <c:catAx>
        <c:axId val="121513646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73443567"/>
        <c:crosses val="autoZero"/>
        <c:auto val="1"/>
        <c:lblAlgn val="ctr"/>
        <c:lblOffset val="100"/>
        <c:noMultiLvlLbl val="0"/>
      </c:catAx>
      <c:valAx>
        <c:axId val="47344356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151364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325F515-76CE-4EEE-BEB8-05B5BC0E0A05}" type="datetimeFigureOut">
              <a:t>6/22/2026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E1675933-C627-4FCF-9D59-7447AC5798A1}" type="slidenum">
              <a:t>‹#›</a:t>
            </a:fld>
            <a:endParaRPr lang="en-US"/>
          </a:p>
        </p:txBody>
      </p:sp>
    </p:spTree>
    <p:extLst>
      <p:ext uri="{BB962C8B-B14F-4D97-AF65-F5344CB8AC3E}">
        <p14:creationId xmlns:p14="http://schemas.microsoft.com/office/powerpoint/2010/main" val="24904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F1C"/>
        </a:solidFill>
        <a:effectLst/>
      </p:bgPr>
    </p:bg>
    <p:spTree>
      <p:nvGrpSpPr>
        <p:cNvPr id="1" name=""/>
        <p:cNvGrpSpPr/>
        <p:nvPr/>
      </p:nvGrpSpPr>
      <p:grpSpPr>
        <a:xfrm>
          <a:off x="0" y="0"/>
          <a:ext cx="0" cy="0"/>
          <a:chOff x="0" y="0"/>
          <a:chExt cx="0" cy="0"/>
        </a:xfrm>
      </p:grpSpPr>
      <p:sp>
        <p:nvSpPr>
          <p:cNvPr id="3" name="Shape 0"/>
          <p:cNvSpPr/>
          <p:nvPr/>
        </p:nvSpPr>
        <p:spPr>
          <a:xfrm>
            <a:off x="0" y="0"/>
            <a:ext cx="5321808" cy="6858000"/>
          </a:xfrm>
          <a:prstGeom prst="rect">
            <a:avLst/>
          </a:prstGeom>
          <a:solidFill>
            <a:srgbClr val="080F1C"/>
          </a:solidFill>
          <a:ln w="12700">
            <a:solidFill>
              <a:srgbClr val="080F1C"/>
            </a:solidFill>
            <a:prstDash val="solid"/>
          </a:ln>
        </p:spPr>
        <p:txBody>
          <a:bodyPr/>
          <a:lstStyle/>
          <a:p>
            <a:endParaRPr lang="en-US"/>
          </a:p>
        </p:txBody>
      </p:sp>
      <p:pic>
        <p:nvPicPr>
          <p:cNvPr id="18" name="Picture 17">
            <a:extLst>
              <a:ext uri="{FF2B5EF4-FFF2-40B4-BE49-F238E27FC236}">
                <a16:creationId xmlns:a16="http://schemas.microsoft.com/office/drawing/2014/main" id="{61E262DF-4671-9A84-1F5A-FD5E8C493839}"/>
              </a:ext>
            </a:extLst>
          </p:cNvPr>
          <p:cNvPicPr>
            <a:picLocks noChangeAspect="1"/>
          </p:cNvPicPr>
          <p:nvPr/>
        </p:nvPicPr>
        <p:blipFill>
          <a:blip r:embed="rId3"/>
          <a:stretch>
            <a:fillRect/>
          </a:stretch>
        </p:blipFill>
        <p:spPr>
          <a:xfrm>
            <a:off x="3239" y="0"/>
            <a:ext cx="12185522" cy="6858000"/>
          </a:xfrm>
          <a:prstGeom prst="rect">
            <a:avLst/>
          </a:prstGeom>
        </p:spPr>
      </p:pic>
      <p:sp>
        <p:nvSpPr>
          <p:cNvPr id="4" name="Shape 1"/>
          <p:cNvSpPr/>
          <p:nvPr/>
        </p:nvSpPr>
        <p:spPr>
          <a:xfrm>
            <a:off x="10261130" y="-115277"/>
            <a:ext cx="0" cy="6858000"/>
          </a:xfrm>
          <a:prstGeom prst="line">
            <a:avLst/>
          </a:prstGeom>
          <a:noFill/>
          <a:ln w="355600">
            <a:solidFill>
              <a:srgbClr val="0A2040"/>
            </a:solidFill>
            <a:prstDash val="solid"/>
          </a:ln>
        </p:spPr>
        <p:txBody>
          <a:bodyPr/>
          <a:lstStyle/>
          <a:p>
            <a:endParaRPr lang="en-US"/>
          </a:p>
        </p:txBody>
      </p:sp>
      <p:sp>
        <p:nvSpPr>
          <p:cNvPr id="5" name="Shape 2"/>
          <p:cNvSpPr/>
          <p:nvPr/>
        </p:nvSpPr>
        <p:spPr>
          <a:xfrm>
            <a:off x="10154528" y="-115277"/>
            <a:ext cx="0" cy="6858000"/>
          </a:xfrm>
          <a:prstGeom prst="line">
            <a:avLst/>
          </a:prstGeom>
          <a:noFill/>
          <a:ln w="63500">
            <a:solidFill>
              <a:srgbClr val="00B4D8"/>
            </a:solidFill>
            <a:prstDash val="solid"/>
          </a:ln>
        </p:spPr>
        <p:txBody>
          <a:bodyPr/>
          <a:lstStyle/>
          <a:p>
            <a:endParaRPr lang="en-US"/>
          </a:p>
        </p:txBody>
      </p:sp>
      <p:sp>
        <p:nvSpPr>
          <p:cNvPr id="6" name="Shape 3"/>
          <p:cNvSpPr/>
          <p:nvPr/>
        </p:nvSpPr>
        <p:spPr>
          <a:xfrm>
            <a:off x="10352570" y="-115277"/>
            <a:ext cx="0" cy="6858000"/>
          </a:xfrm>
          <a:prstGeom prst="line">
            <a:avLst/>
          </a:prstGeom>
          <a:noFill/>
          <a:ln w="19050">
            <a:solidFill>
              <a:srgbClr val="4DD9F5"/>
            </a:solidFill>
            <a:prstDash val="solid"/>
          </a:ln>
        </p:spPr>
        <p:txBody>
          <a:bodyPr/>
          <a:lstStyle/>
          <a:p>
            <a:endParaRPr lang="en-US"/>
          </a:p>
        </p:txBody>
      </p:sp>
      <p:sp>
        <p:nvSpPr>
          <p:cNvPr id="8" name="Text 4"/>
          <p:cNvSpPr/>
          <p:nvPr/>
        </p:nvSpPr>
        <p:spPr>
          <a:xfrm>
            <a:off x="411480" y="1170432"/>
            <a:ext cx="4773168" cy="274320"/>
          </a:xfrm>
          <a:prstGeom prst="rect">
            <a:avLst/>
          </a:prstGeom>
          <a:noFill/>
          <a:ln/>
        </p:spPr>
        <p:txBody>
          <a:bodyPr wrap="square" lIns="0" tIns="0" rIns="0" bIns="0" rtlCol="0" anchor="ctr"/>
          <a:lstStyle/>
          <a:p>
            <a:pPr marL="0" indent="0">
              <a:buNone/>
            </a:pPr>
            <a:r>
              <a:rPr lang="en-US" sz="900" b="1" kern="0" spc="350" dirty="0">
                <a:solidFill>
                  <a:srgbClr val="00B4D8"/>
                </a:solidFill>
                <a:latin typeface="Calibri" pitchFamily="34" charset="0"/>
                <a:ea typeface="Calibri" pitchFamily="34" charset="-122"/>
                <a:cs typeface="Calibri" pitchFamily="34" charset="-120"/>
              </a:rPr>
              <a:t>MONTHLY BUSINESS REVIEW</a:t>
            </a:r>
            <a:endParaRPr lang="en-US" sz="900" dirty="0"/>
          </a:p>
        </p:txBody>
      </p:sp>
      <p:sp>
        <p:nvSpPr>
          <p:cNvPr id="9" name="Text 5"/>
          <p:cNvSpPr/>
          <p:nvPr/>
        </p:nvSpPr>
        <p:spPr>
          <a:xfrm>
            <a:off x="411480" y="1508760"/>
            <a:ext cx="4773168" cy="137160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Management Business Review</a:t>
            </a:r>
            <a:endParaRPr lang="en-US" sz="3400" dirty="0"/>
          </a:p>
        </p:txBody>
      </p:sp>
      <p:sp>
        <p:nvSpPr>
          <p:cNvPr id="10" name="Text 6"/>
          <p:cNvSpPr/>
          <p:nvPr/>
        </p:nvSpPr>
        <p:spPr>
          <a:xfrm>
            <a:off x="411480" y="2971800"/>
            <a:ext cx="4773168" cy="475488"/>
          </a:xfrm>
          <a:prstGeom prst="rect">
            <a:avLst/>
          </a:prstGeom>
          <a:noFill/>
          <a:ln/>
        </p:spPr>
        <p:txBody>
          <a:bodyPr wrap="square" lIns="0" tIns="0" rIns="0" bIns="0" rtlCol="0" anchor="ctr"/>
          <a:lstStyle/>
          <a:p>
            <a:pPr marL="0" indent="0">
              <a:buNone/>
            </a:pPr>
            <a:r>
              <a:rPr lang="en-US" sz="2000" b="1" dirty="0">
                <a:solidFill>
                  <a:srgbClr val="00B4D8"/>
                </a:solidFill>
                <a:latin typeface="Calibri" pitchFamily="34" charset="0"/>
                <a:ea typeface="Calibri" pitchFamily="34" charset="-122"/>
                <a:cs typeface="Calibri" pitchFamily="34" charset="-120"/>
              </a:rPr>
              <a:t>May 2025</a:t>
            </a:r>
            <a:endParaRPr lang="en-US" sz="2000" dirty="0"/>
          </a:p>
        </p:txBody>
      </p:sp>
      <p:sp>
        <p:nvSpPr>
          <p:cNvPr id="11" name="Shape 7"/>
          <p:cNvSpPr/>
          <p:nvPr/>
        </p:nvSpPr>
        <p:spPr>
          <a:xfrm>
            <a:off x="411480" y="3547872"/>
            <a:ext cx="2560320" cy="27432"/>
          </a:xfrm>
          <a:prstGeom prst="rect">
            <a:avLst/>
          </a:prstGeom>
          <a:solidFill>
            <a:srgbClr val="4B5E78"/>
          </a:solidFill>
          <a:ln w="12700">
            <a:solidFill>
              <a:srgbClr val="4B5E78"/>
            </a:solidFill>
            <a:prstDash val="solid"/>
          </a:ln>
        </p:spPr>
        <p:txBody>
          <a:bodyPr/>
          <a:lstStyle/>
          <a:p>
            <a:endParaRPr lang="en-US"/>
          </a:p>
        </p:txBody>
      </p:sp>
      <p:sp>
        <p:nvSpPr>
          <p:cNvPr id="12" name="Text 8"/>
          <p:cNvSpPr/>
          <p:nvPr/>
        </p:nvSpPr>
        <p:spPr>
          <a:xfrm>
            <a:off x="411480" y="3694176"/>
            <a:ext cx="4727448" cy="25603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Prepared by  </a:t>
            </a:r>
            <a:r>
              <a:rPr lang="en-US" sz="950" b="1" dirty="0">
                <a:solidFill>
                  <a:srgbClr val="FFFFFF"/>
                </a:solidFill>
                <a:latin typeface="Calibri" pitchFamily="34" charset="0"/>
                <a:ea typeface="Calibri" pitchFamily="34" charset="-122"/>
                <a:cs typeface="Calibri" pitchFamily="34" charset="-120"/>
              </a:rPr>
              <a:t>LONGHAUL AI</a:t>
            </a:r>
            <a:endParaRPr lang="en-US" sz="950" dirty="0"/>
          </a:p>
        </p:txBody>
      </p:sp>
      <p:sp>
        <p:nvSpPr>
          <p:cNvPr id="13" name="Text 9"/>
          <p:cNvSpPr/>
          <p:nvPr/>
        </p:nvSpPr>
        <p:spPr>
          <a:xfrm>
            <a:off x="411480" y="3986784"/>
            <a:ext cx="4727448" cy="25603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Data Sources  </a:t>
            </a: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14" name="Text 10"/>
          <p:cNvSpPr/>
          <p:nvPr/>
        </p:nvSpPr>
        <p:spPr>
          <a:xfrm>
            <a:off x="411480" y="6364224"/>
            <a:ext cx="2743200" cy="201168"/>
          </a:xfrm>
          <a:prstGeom prst="rect">
            <a:avLst/>
          </a:prstGeom>
          <a:noFill/>
          <a:ln/>
        </p:spPr>
        <p:txBody>
          <a:bodyPr wrap="square" lIns="0" tIns="0" rIns="0" bIns="0" rtlCol="0" anchor="ctr"/>
          <a:lstStyle/>
          <a:p>
            <a:pPr marL="0" indent="0">
              <a:buNone/>
            </a:pPr>
            <a:r>
              <a:rPr lang="en-US" sz="700" kern="0" spc="200" dirty="0">
                <a:solidFill>
                  <a:srgbClr val="4B5E78"/>
                </a:solidFill>
                <a:latin typeface="Calibri" pitchFamily="34" charset="0"/>
                <a:ea typeface="Calibri" pitchFamily="34" charset="-122"/>
                <a:cs typeface="Calibri" pitchFamily="34" charset="-120"/>
              </a:rPr>
              <a:t>CONFIDENTIAL</a:t>
            </a:r>
            <a:endParaRPr lang="en-US" sz="700" dirty="0"/>
          </a:p>
        </p:txBody>
      </p:sp>
      <p:sp>
        <p:nvSpPr>
          <p:cNvPr id="15" name="Shape 11"/>
          <p:cNvSpPr/>
          <p:nvPr/>
        </p:nvSpPr>
        <p:spPr>
          <a:xfrm>
            <a:off x="0" y="6638544"/>
            <a:ext cx="12188952" cy="219456"/>
          </a:xfrm>
          <a:prstGeom prst="rect">
            <a:avLst/>
          </a:prstGeom>
          <a:solidFill>
            <a:srgbClr val="050C18"/>
          </a:solidFill>
          <a:ln w="12700">
            <a:solidFill>
              <a:srgbClr val="050C18"/>
            </a:solidFill>
            <a:prstDash val="solid"/>
          </a:ln>
        </p:spPr>
        <p:txBody>
          <a:bodyPr/>
          <a:lstStyle/>
          <a:p>
            <a:endParaRPr lang="en-US"/>
          </a:p>
        </p:txBody>
      </p:sp>
      <p:sp>
        <p:nvSpPr>
          <p:cNvPr id="16" name="Text 12"/>
          <p:cNvSpPr/>
          <p:nvPr/>
        </p:nvSpPr>
        <p:spPr>
          <a:xfrm>
            <a:off x="502920" y="6638544"/>
            <a:ext cx="11183112" cy="219456"/>
          </a:xfrm>
          <a:prstGeom prst="rect">
            <a:avLst/>
          </a:prstGeom>
          <a:noFill/>
          <a:ln/>
        </p:spPr>
        <p:txBody>
          <a:bodyPr wrap="square" lIns="0" tIns="0" rIns="0" bIns="0" rtlCol="0" anchor="ctr"/>
          <a:lstStyle/>
          <a:p>
            <a:pPr marL="0" indent="0" algn="ctr">
              <a:buNone/>
            </a:pPr>
            <a:r>
              <a:rPr lang="en-US" sz="700" dirty="0">
                <a:solidFill>
                  <a:srgbClr val="4B5E78"/>
                </a:solidFill>
                <a:latin typeface="Calibri" pitchFamily="34" charset="0"/>
                <a:ea typeface="Calibri" pitchFamily="34" charset="-122"/>
                <a:cs typeface="Calibri" pitchFamily="34" charset="-120"/>
              </a:rPr>
              <a:t>May 2025  ·  Confidential  ·  Page 1</a:t>
            </a:r>
            <a:endParaRPr lang="en-US" sz="700" dirty="0"/>
          </a:p>
        </p:txBody>
      </p:sp>
      <p:pic>
        <p:nvPicPr>
          <p:cNvPr id="20" name="Picture 19">
            <a:extLst>
              <a:ext uri="{FF2B5EF4-FFF2-40B4-BE49-F238E27FC236}">
                <a16:creationId xmlns:a16="http://schemas.microsoft.com/office/drawing/2014/main" id="{4579356A-0E7E-A329-3D4A-B2EAD3248B81}"/>
              </a:ext>
            </a:extLst>
          </p:cNvPr>
          <p:cNvPicPr>
            <a:picLocks noChangeAspect="1"/>
          </p:cNvPicPr>
          <p:nvPr/>
        </p:nvPicPr>
        <p:blipFill>
          <a:blip r:embed="rId4"/>
          <a:srcRect l="24017" t="36923" r="25309" b="46133"/>
          <a:stretch>
            <a:fillRect/>
          </a:stretch>
        </p:blipFill>
        <p:spPr>
          <a:xfrm>
            <a:off x="242277" y="133487"/>
            <a:ext cx="3959083" cy="8825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F1C"/>
        </a:solidFill>
        <a:effectLst/>
      </p:bgPr>
    </p:bg>
    <p:spTree>
      <p:nvGrpSpPr>
        <p:cNvPr id="1" name=""/>
        <p:cNvGrpSpPr/>
        <p:nvPr/>
      </p:nvGrpSpPr>
      <p:grpSpPr>
        <a:xfrm>
          <a:off x="0" y="0"/>
          <a:ext cx="0" cy="0"/>
          <a:chOff x="0" y="0"/>
          <a:chExt cx="0" cy="0"/>
        </a:xfrm>
      </p:grpSpPr>
      <p:sp>
        <p:nvSpPr>
          <p:cNvPr id="3" name="Text 0"/>
          <p:cNvSpPr/>
          <p:nvPr/>
        </p:nvSpPr>
        <p:spPr>
          <a:xfrm>
            <a:off x="502920" y="164592"/>
            <a:ext cx="845820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MBR Executive Summary</a:t>
            </a:r>
            <a:endParaRPr lang="en-US" sz="2000" dirty="0"/>
          </a:p>
        </p:txBody>
      </p:sp>
      <p:sp>
        <p:nvSpPr>
          <p:cNvPr id="4" name="Shape 1"/>
          <p:cNvSpPr/>
          <p:nvPr/>
        </p:nvSpPr>
        <p:spPr>
          <a:xfrm>
            <a:off x="8897112" y="146304"/>
            <a:ext cx="2788920" cy="365760"/>
          </a:xfrm>
          <a:prstGeom prst="rect">
            <a:avLst/>
          </a:prstGeom>
          <a:solidFill>
            <a:srgbClr val="132035"/>
          </a:solidFill>
          <a:ln w="9525">
            <a:solidFill>
              <a:srgbClr val="00B4D8"/>
            </a:solidFill>
            <a:prstDash val="solid"/>
          </a:ln>
        </p:spPr>
        <p:txBody>
          <a:bodyPr/>
          <a:lstStyle/>
          <a:p>
            <a:endParaRPr lang="en-US"/>
          </a:p>
        </p:txBody>
      </p:sp>
      <p:sp>
        <p:nvSpPr>
          <p:cNvPr id="5" name="Text 2"/>
          <p:cNvSpPr/>
          <p:nvPr/>
        </p:nvSpPr>
        <p:spPr>
          <a:xfrm>
            <a:off x="8897112" y="146304"/>
            <a:ext cx="2788920" cy="365760"/>
          </a:xfrm>
          <a:prstGeom prst="rect">
            <a:avLst/>
          </a:prstGeom>
          <a:noFill/>
          <a:ln/>
        </p:spPr>
        <p:txBody>
          <a:bodyPr wrap="square" lIns="0" tIns="0" rIns="0" bIns="0" rtlCol="0" anchor="ctr"/>
          <a:lstStyle/>
          <a:p>
            <a:pPr marL="0" indent="0" algn="ctr">
              <a:buNone/>
            </a:pPr>
            <a:r>
              <a:rPr lang="en-US" sz="950" dirty="0">
                <a:solidFill>
                  <a:srgbClr val="00B4D8"/>
                </a:solidFill>
                <a:latin typeface="Calibri" pitchFamily="34" charset="0"/>
                <a:ea typeface="Calibri" pitchFamily="34" charset="-122"/>
                <a:cs typeface="Calibri" pitchFamily="34" charset="-120"/>
              </a:rPr>
              <a:t>May 2025</a:t>
            </a:r>
            <a:endParaRPr lang="en-US" sz="950" dirty="0"/>
          </a:p>
        </p:txBody>
      </p:sp>
      <p:sp>
        <p:nvSpPr>
          <p:cNvPr id="6" name="Shape 3"/>
          <p:cNvSpPr/>
          <p:nvPr/>
        </p:nvSpPr>
        <p:spPr>
          <a:xfrm>
            <a:off x="502920" y="640080"/>
            <a:ext cx="11183112" cy="22860"/>
          </a:xfrm>
          <a:prstGeom prst="rect">
            <a:avLst/>
          </a:prstGeom>
          <a:solidFill>
            <a:srgbClr val="00B4D8"/>
          </a:solidFill>
          <a:ln w="12700">
            <a:solidFill>
              <a:srgbClr val="00B4D8"/>
            </a:solidFill>
            <a:prstDash val="solid"/>
          </a:ln>
        </p:spPr>
        <p:txBody>
          <a:bodyPr/>
          <a:lstStyle/>
          <a:p>
            <a:endParaRPr lang="en-US"/>
          </a:p>
        </p:txBody>
      </p:sp>
      <p:sp>
        <p:nvSpPr>
          <p:cNvPr id="7" name="Shape 4"/>
          <p:cNvSpPr/>
          <p:nvPr/>
        </p:nvSpPr>
        <p:spPr>
          <a:xfrm>
            <a:off x="498348" y="777240"/>
            <a:ext cx="3584448" cy="1261872"/>
          </a:xfrm>
          <a:prstGeom prst="rect">
            <a:avLst/>
          </a:prstGeom>
          <a:solidFill>
            <a:srgbClr val="132035"/>
          </a:solidFill>
          <a:ln w="6350">
            <a:solidFill>
              <a:srgbClr val="1A2B47"/>
            </a:solidFill>
            <a:prstDash val="solid"/>
          </a:ln>
          <a:effectLst>
            <a:outerShdw blurRad="101600" dist="25400" dir="8100000" algn="bl" rotWithShape="0">
              <a:srgbClr val="000000">
                <a:alpha val="30000"/>
              </a:srgbClr>
            </a:outerShdw>
          </a:effectLst>
        </p:spPr>
        <p:txBody>
          <a:bodyPr/>
          <a:lstStyle/>
          <a:p>
            <a:endParaRPr lang="en-US"/>
          </a:p>
        </p:txBody>
      </p:sp>
      <p:sp>
        <p:nvSpPr>
          <p:cNvPr id="8" name="Shape 5"/>
          <p:cNvSpPr/>
          <p:nvPr/>
        </p:nvSpPr>
        <p:spPr>
          <a:xfrm>
            <a:off x="498348" y="777240"/>
            <a:ext cx="3584448" cy="36576"/>
          </a:xfrm>
          <a:prstGeom prst="rect">
            <a:avLst/>
          </a:prstGeom>
          <a:solidFill>
            <a:srgbClr val="00B4D8"/>
          </a:solidFill>
          <a:ln w="12700">
            <a:solidFill>
              <a:srgbClr val="00B4D8"/>
            </a:solidFill>
            <a:prstDash val="solid"/>
          </a:ln>
        </p:spPr>
        <p:txBody>
          <a:bodyPr/>
          <a:lstStyle/>
          <a:p>
            <a:endParaRPr lang="en-US"/>
          </a:p>
        </p:txBody>
      </p:sp>
      <p:sp>
        <p:nvSpPr>
          <p:cNvPr id="9" name="Text 6"/>
          <p:cNvSpPr/>
          <p:nvPr/>
        </p:nvSpPr>
        <p:spPr>
          <a:xfrm>
            <a:off x="662940" y="905256"/>
            <a:ext cx="3255264" cy="201168"/>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TOTAL REVENUE</a:t>
            </a:r>
            <a:endParaRPr lang="en-US" sz="750" dirty="0"/>
          </a:p>
        </p:txBody>
      </p:sp>
      <p:sp>
        <p:nvSpPr>
          <p:cNvPr id="10" name="Text 7"/>
          <p:cNvSpPr/>
          <p:nvPr/>
        </p:nvSpPr>
        <p:spPr>
          <a:xfrm>
            <a:off x="662940" y="1088136"/>
            <a:ext cx="3255264"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$12.44M</a:t>
            </a:r>
            <a:endParaRPr lang="en-US" sz="3000" dirty="0"/>
          </a:p>
        </p:txBody>
      </p:sp>
      <p:sp>
        <p:nvSpPr>
          <p:cNvPr id="11" name="Text 8"/>
          <p:cNvSpPr/>
          <p:nvPr/>
        </p:nvSpPr>
        <p:spPr>
          <a:xfrm>
            <a:off x="662940" y="1645920"/>
            <a:ext cx="3255264" cy="201168"/>
          </a:xfrm>
          <a:prstGeom prst="rect">
            <a:avLst/>
          </a:prstGeom>
          <a:noFill/>
          <a:ln/>
        </p:spPr>
        <p:txBody>
          <a:bodyPr wrap="square" lIns="0" tIns="0" rIns="0" bIns="0" rtlCol="0" anchor="ctr"/>
          <a:lstStyle/>
          <a:p>
            <a:pPr marL="0" indent="0">
              <a:buNone/>
            </a:pPr>
            <a:r>
              <a:rPr lang="en-US" sz="900" dirty="0">
                <a:solidFill>
                  <a:srgbClr val="22C55E"/>
                </a:solidFill>
                <a:latin typeface="Calibri" pitchFamily="34" charset="0"/>
                <a:ea typeface="Calibri" pitchFamily="34" charset="-122"/>
                <a:cs typeface="Calibri" pitchFamily="34" charset="-120"/>
              </a:rPr>
              <a:t>↑ ↑ 1.0% vs prior period</a:t>
            </a:r>
            <a:endParaRPr lang="en-US" sz="900" dirty="0"/>
          </a:p>
        </p:txBody>
      </p:sp>
      <p:sp>
        <p:nvSpPr>
          <p:cNvPr id="12" name="Shape 9"/>
          <p:cNvSpPr/>
          <p:nvPr/>
        </p:nvSpPr>
        <p:spPr>
          <a:xfrm>
            <a:off x="4302252" y="777240"/>
            <a:ext cx="3584448" cy="1261872"/>
          </a:xfrm>
          <a:prstGeom prst="rect">
            <a:avLst/>
          </a:prstGeom>
          <a:solidFill>
            <a:srgbClr val="132035"/>
          </a:solidFill>
          <a:ln w="6350">
            <a:solidFill>
              <a:srgbClr val="1A2B47"/>
            </a:solidFill>
            <a:prstDash val="solid"/>
          </a:ln>
          <a:effectLst>
            <a:outerShdw blurRad="101600" dist="25400" dir="8100000" algn="bl" rotWithShape="0">
              <a:srgbClr val="000000">
                <a:alpha val="30000"/>
              </a:srgbClr>
            </a:outerShdw>
          </a:effectLst>
        </p:spPr>
        <p:txBody>
          <a:bodyPr/>
          <a:lstStyle/>
          <a:p>
            <a:endParaRPr lang="en-US"/>
          </a:p>
        </p:txBody>
      </p:sp>
      <p:sp>
        <p:nvSpPr>
          <p:cNvPr id="13" name="Shape 10"/>
          <p:cNvSpPr/>
          <p:nvPr/>
        </p:nvSpPr>
        <p:spPr>
          <a:xfrm>
            <a:off x="4302252" y="777240"/>
            <a:ext cx="3584448" cy="36576"/>
          </a:xfrm>
          <a:prstGeom prst="rect">
            <a:avLst/>
          </a:prstGeom>
          <a:solidFill>
            <a:srgbClr val="00B4D8"/>
          </a:solidFill>
          <a:ln w="12700">
            <a:solidFill>
              <a:srgbClr val="00B4D8"/>
            </a:solidFill>
            <a:prstDash val="solid"/>
          </a:ln>
        </p:spPr>
        <p:txBody>
          <a:bodyPr/>
          <a:lstStyle/>
          <a:p>
            <a:endParaRPr lang="en-US"/>
          </a:p>
        </p:txBody>
      </p:sp>
      <p:sp>
        <p:nvSpPr>
          <p:cNvPr id="14" name="Text 11"/>
          <p:cNvSpPr/>
          <p:nvPr/>
        </p:nvSpPr>
        <p:spPr>
          <a:xfrm>
            <a:off x="4466844" y="905256"/>
            <a:ext cx="3255264" cy="201168"/>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TOTAL MILES</a:t>
            </a:r>
            <a:endParaRPr lang="en-US" sz="750" dirty="0"/>
          </a:p>
        </p:txBody>
      </p:sp>
      <p:sp>
        <p:nvSpPr>
          <p:cNvPr id="15" name="Text 12"/>
          <p:cNvSpPr/>
          <p:nvPr/>
        </p:nvSpPr>
        <p:spPr>
          <a:xfrm>
            <a:off x="4466844" y="1088136"/>
            <a:ext cx="3255264"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0.97M mi</a:t>
            </a:r>
            <a:endParaRPr lang="en-US" sz="3000" dirty="0"/>
          </a:p>
        </p:txBody>
      </p:sp>
      <p:sp>
        <p:nvSpPr>
          <p:cNvPr id="16" name="Text 13"/>
          <p:cNvSpPr/>
          <p:nvPr/>
        </p:nvSpPr>
        <p:spPr>
          <a:xfrm>
            <a:off x="4466844" y="1645920"/>
            <a:ext cx="3255264" cy="201168"/>
          </a:xfrm>
          <a:prstGeom prst="rect">
            <a:avLst/>
          </a:prstGeom>
          <a:noFill/>
          <a:ln/>
        </p:spPr>
        <p:txBody>
          <a:bodyPr wrap="square" lIns="0" tIns="0" rIns="0" bIns="0" rtlCol="0" anchor="ctr"/>
          <a:lstStyle/>
          <a:p>
            <a:pPr marL="0" indent="0">
              <a:buNone/>
            </a:pPr>
            <a:r>
              <a:rPr lang="en-US" sz="900" dirty="0">
                <a:solidFill>
                  <a:srgbClr val="22C55E"/>
                </a:solidFill>
                <a:latin typeface="Calibri" pitchFamily="34" charset="0"/>
                <a:ea typeface="Calibri" pitchFamily="34" charset="-122"/>
                <a:cs typeface="Calibri" pitchFamily="34" charset="-120"/>
              </a:rPr>
              <a:t>↑ ↑ 1.0% vs prior period</a:t>
            </a:r>
            <a:endParaRPr lang="en-US" sz="900" dirty="0"/>
          </a:p>
        </p:txBody>
      </p:sp>
      <p:sp>
        <p:nvSpPr>
          <p:cNvPr id="17" name="Shape 14"/>
          <p:cNvSpPr/>
          <p:nvPr/>
        </p:nvSpPr>
        <p:spPr>
          <a:xfrm>
            <a:off x="8106156" y="777240"/>
            <a:ext cx="3584448" cy="1261872"/>
          </a:xfrm>
          <a:prstGeom prst="rect">
            <a:avLst/>
          </a:prstGeom>
          <a:solidFill>
            <a:srgbClr val="132035"/>
          </a:solidFill>
          <a:ln w="6350">
            <a:solidFill>
              <a:srgbClr val="1A2B47"/>
            </a:solidFill>
            <a:prstDash val="solid"/>
          </a:ln>
          <a:effectLst>
            <a:outerShdw blurRad="101600" dist="25400" dir="8100000" algn="bl" rotWithShape="0">
              <a:srgbClr val="000000">
                <a:alpha val="30000"/>
              </a:srgbClr>
            </a:outerShdw>
          </a:effectLst>
        </p:spPr>
        <p:txBody>
          <a:bodyPr/>
          <a:lstStyle/>
          <a:p>
            <a:endParaRPr lang="en-US"/>
          </a:p>
        </p:txBody>
      </p:sp>
      <p:sp>
        <p:nvSpPr>
          <p:cNvPr id="18" name="Shape 15"/>
          <p:cNvSpPr/>
          <p:nvPr/>
        </p:nvSpPr>
        <p:spPr>
          <a:xfrm>
            <a:off x="8106156" y="777240"/>
            <a:ext cx="3584448" cy="36576"/>
          </a:xfrm>
          <a:prstGeom prst="rect">
            <a:avLst/>
          </a:prstGeom>
          <a:solidFill>
            <a:srgbClr val="00B4D8"/>
          </a:solidFill>
          <a:ln w="12700">
            <a:solidFill>
              <a:srgbClr val="00B4D8"/>
            </a:solidFill>
            <a:prstDash val="solid"/>
          </a:ln>
        </p:spPr>
        <p:txBody>
          <a:bodyPr/>
          <a:lstStyle/>
          <a:p>
            <a:endParaRPr lang="en-US"/>
          </a:p>
        </p:txBody>
      </p:sp>
      <p:sp>
        <p:nvSpPr>
          <p:cNvPr id="19" name="Text 16"/>
          <p:cNvSpPr/>
          <p:nvPr/>
        </p:nvSpPr>
        <p:spPr>
          <a:xfrm>
            <a:off x="8270748" y="905256"/>
            <a:ext cx="3255264" cy="201168"/>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EMPTY MILES %</a:t>
            </a:r>
            <a:endParaRPr lang="en-US" sz="750" dirty="0"/>
          </a:p>
        </p:txBody>
      </p:sp>
      <p:sp>
        <p:nvSpPr>
          <p:cNvPr id="20" name="Text 17"/>
          <p:cNvSpPr/>
          <p:nvPr/>
        </p:nvSpPr>
        <p:spPr>
          <a:xfrm>
            <a:off x="8270748" y="1088136"/>
            <a:ext cx="3255264"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6.7%</a:t>
            </a:r>
            <a:endParaRPr lang="en-US" sz="3000" dirty="0"/>
          </a:p>
        </p:txBody>
      </p:sp>
      <p:sp>
        <p:nvSpPr>
          <p:cNvPr id="21" name="Text 18"/>
          <p:cNvSpPr/>
          <p:nvPr/>
        </p:nvSpPr>
        <p:spPr>
          <a:xfrm>
            <a:off x="8270748" y="1645920"/>
            <a:ext cx="3255264" cy="201168"/>
          </a:xfrm>
          <a:prstGeom prst="rect">
            <a:avLst/>
          </a:prstGeom>
          <a:noFill/>
          <a:ln/>
        </p:spPr>
        <p:txBody>
          <a:bodyPr wrap="square" lIns="0" tIns="0" rIns="0" bIns="0" rtlCol="0" anchor="ctr"/>
          <a:lstStyle/>
          <a:p>
            <a:pPr marL="0" indent="0">
              <a:buNone/>
            </a:pPr>
            <a:r>
              <a:rPr lang="en-US" sz="900" dirty="0">
                <a:solidFill>
                  <a:srgbClr val="22C55E"/>
                </a:solidFill>
                <a:latin typeface="Calibri" pitchFamily="34" charset="0"/>
                <a:ea typeface="Calibri" pitchFamily="34" charset="-122"/>
                <a:cs typeface="Calibri" pitchFamily="34" charset="-120"/>
              </a:rPr>
              <a:t>↑ ↓ 0.1pp</a:t>
            </a:r>
            <a:endParaRPr lang="en-US" sz="900" dirty="0"/>
          </a:p>
        </p:txBody>
      </p:sp>
      <p:sp>
        <p:nvSpPr>
          <p:cNvPr id="22" name="Shape 19"/>
          <p:cNvSpPr/>
          <p:nvPr/>
        </p:nvSpPr>
        <p:spPr>
          <a:xfrm>
            <a:off x="498348" y="2221992"/>
            <a:ext cx="3584448" cy="1261872"/>
          </a:xfrm>
          <a:prstGeom prst="rect">
            <a:avLst/>
          </a:prstGeom>
          <a:solidFill>
            <a:srgbClr val="132035"/>
          </a:solidFill>
          <a:ln w="6350">
            <a:solidFill>
              <a:srgbClr val="1A2B47"/>
            </a:solidFill>
            <a:prstDash val="solid"/>
          </a:ln>
          <a:effectLst>
            <a:outerShdw blurRad="101600" dist="25400" dir="8100000" algn="bl" rotWithShape="0">
              <a:srgbClr val="000000">
                <a:alpha val="30000"/>
              </a:srgbClr>
            </a:outerShdw>
          </a:effectLst>
        </p:spPr>
        <p:txBody>
          <a:bodyPr/>
          <a:lstStyle/>
          <a:p>
            <a:endParaRPr lang="en-US"/>
          </a:p>
        </p:txBody>
      </p:sp>
      <p:sp>
        <p:nvSpPr>
          <p:cNvPr id="23" name="Shape 20"/>
          <p:cNvSpPr/>
          <p:nvPr/>
        </p:nvSpPr>
        <p:spPr>
          <a:xfrm>
            <a:off x="498348" y="2221992"/>
            <a:ext cx="3584448" cy="36576"/>
          </a:xfrm>
          <a:prstGeom prst="rect">
            <a:avLst/>
          </a:prstGeom>
          <a:solidFill>
            <a:srgbClr val="00B4D8"/>
          </a:solidFill>
          <a:ln w="12700">
            <a:solidFill>
              <a:srgbClr val="00B4D8"/>
            </a:solidFill>
            <a:prstDash val="solid"/>
          </a:ln>
        </p:spPr>
        <p:txBody>
          <a:bodyPr/>
          <a:lstStyle/>
          <a:p>
            <a:endParaRPr lang="en-US"/>
          </a:p>
        </p:txBody>
      </p:sp>
      <p:sp>
        <p:nvSpPr>
          <p:cNvPr id="24" name="Text 21"/>
          <p:cNvSpPr/>
          <p:nvPr/>
        </p:nvSpPr>
        <p:spPr>
          <a:xfrm>
            <a:off x="662940" y="2350008"/>
            <a:ext cx="3255264" cy="201168"/>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OPERATING MARGIN</a:t>
            </a:r>
            <a:endParaRPr lang="en-US" sz="750" dirty="0"/>
          </a:p>
        </p:txBody>
      </p:sp>
      <p:sp>
        <p:nvSpPr>
          <p:cNvPr id="25" name="Text 22"/>
          <p:cNvSpPr/>
          <p:nvPr/>
        </p:nvSpPr>
        <p:spPr>
          <a:xfrm>
            <a:off x="662940" y="2532888"/>
            <a:ext cx="3255264"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8.5%</a:t>
            </a:r>
            <a:endParaRPr lang="en-US" sz="3000" dirty="0"/>
          </a:p>
        </p:txBody>
      </p:sp>
      <p:sp>
        <p:nvSpPr>
          <p:cNvPr id="26" name="Text 23"/>
          <p:cNvSpPr/>
          <p:nvPr/>
        </p:nvSpPr>
        <p:spPr>
          <a:xfrm>
            <a:off x="662940" y="3090672"/>
            <a:ext cx="3255264" cy="201168"/>
          </a:xfrm>
          <a:prstGeom prst="rect">
            <a:avLst/>
          </a:prstGeom>
          <a:noFill/>
          <a:ln/>
        </p:spPr>
        <p:txBody>
          <a:bodyPr wrap="square" lIns="0" tIns="0" rIns="0" bIns="0" rtlCol="0" anchor="ctr"/>
          <a:lstStyle/>
          <a:p>
            <a:pPr marL="0" indent="0">
              <a:buNone/>
            </a:pPr>
            <a:r>
              <a:rPr lang="en-US" sz="900" dirty="0">
                <a:solidFill>
                  <a:srgbClr val="22C55E"/>
                </a:solidFill>
                <a:latin typeface="Calibri" pitchFamily="34" charset="0"/>
                <a:ea typeface="Calibri" pitchFamily="34" charset="-122"/>
                <a:cs typeface="Calibri" pitchFamily="34" charset="-120"/>
              </a:rPr>
              <a:t>↑ ↑ 0.1pp</a:t>
            </a:r>
            <a:endParaRPr lang="en-US" sz="900" dirty="0"/>
          </a:p>
        </p:txBody>
      </p:sp>
      <p:sp>
        <p:nvSpPr>
          <p:cNvPr id="27" name="Shape 24"/>
          <p:cNvSpPr/>
          <p:nvPr/>
        </p:nvSpPr>
        <p:spPr>
          <a:xfrm>
            <a:off x="4302252" y="2221992"/>
            <a:ext cx="3584448" cy="1261872"/>
          </a:xfrm>
          <a:prstGeom prst="rect">
            <a:avLst/>
          </a:prstGeom>
          <a:solidFill>
            <a:srgbClr val="132035"/>
          </a:solidFill>
          <a:ln w="6350">
            <a:solidFill>
              <a:srgbClr val="1A2B47"/>
            </a:solidFill>
            <a:prstDash val="solid"/>
          </a:ln>
          <a:effectLst>
            <a:outerShdw blurRad="101600" dist="25400" dir="8100000" algn="bl" rotWithShape="0">
              <a:srgbClr val="000000">
                <a:alpha val="30000"/>
              </a:srgbClr>
            </a:outerShdw>
          </a:effectLst>
        </p:spPr>
        <p:txBody>
          <a:bodyPr/>
          <a:lstStyle/>
          <a:p>
            <a:endParaRPr lang="en-US"/>
          </a:p>
        </p:txBody>
      </p:sp>
      <p:sp>
        <p:nvSpPr>
          <p:cNvPr id="28" name="Shape 25"/>
          <p:cNvSpPr/>
          <p:nvPr/>
        </p:nvSpPr>
        <p:spPr>
          <a:xfrm>
            <a:off x="4302252" y="2221992"/>
            <a:ext cx="3584448" cy="36576"/>
          </a:xfrm>
          <a:prstGeom prst="rect">
            <a:avLst/>
          </a:prstGeom>
          <a:solidFill>
            <a:srgbClr val="00B4D8"/>
          </a:solidFill>
          <a:ln w="12700">
            <a:solidFill>
              <a:srgbClr val="00B4D8"/>
            </a:solidFill>
            <a:prstDash val="solid"/>
          </a:ln>
        </p:spPr>
        <p:txBody>
          <a:bodyPr/>
          <a:lstStyle/>
          <a:p>
            <a:endParaRPr lang="en-US"/>
          </a:p>
        </p:txBody>
      </p:sp>
      <p:sp>
        <p:nvSpPr>
          <p:cNvPr id="29" name="Text 26"/>
          <p:cNvSpPr/>
          <p:nvPr/>
        </p:nvSpPr>
        <p:spPr>
          <a:xfrm>
            <a:off x="4466844" y="2350008"/>
            <a:ext cx="3255264" cy="201168"/>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COST PER MILE</a:t>
            </a:r>
            <a:endParaRPr lang="en-US" sz="750" dirty="0"/>
          </a:p>
        </p:txBody>
      </p:sp>
      <p:sp>
        <p:nvSpPr>
          <p:cNvPr id="30" name="Text 27"/>
          <p:cNvSpPr/>
          <p:nvPr/>
        </p:nvSpPr>
        <p:spPr>
          <a:xfrm>
            <a:off x="4466844" y="2532888"/>
            <a:ext cx="3255264"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$11.52</a:t>
            </a:r>
            <a:endParaRPr lang="en-US" sz="3000" dirty="0"/>
          </a:p>
        </p:txBody>
      </p:sp>
      <p:sp>
        <p:nvSpPr>
          <p:cNvPr id="31" name="Text 28"/>
          <p:cNvSpPr/>
          <p:nvPr/>
        </p:nvSpPr>
        <p:spPr>
          <a:xfrm>
            <a:off x="4466844" y="3090672"/>
            <a:ext cx="3255264" cy="201168"/>
          </a:xfrm>
          <a:prstGeom prst="rect">
            <a:avLst/>
          </a:prstGeom>
          <a:noFill/>
          <a:ln/>
        </p:spPr>
        <p:txBody>
          <a:bodyPr wrap="square" lIns="0" tIns="0" rIns="0" bIns="0" rtlCol="0" anchor="ctr"/>
          <a:lstStyle/>
          <a:p>
            <a:pPr marL="0" indent="0">
              <a:buNone/>
            </a:pPr>
            <a:r>
              <a:rPr lang="en-US" sz="900" dirty="0">
                <a:solidFill>
                  <a:srgbClr val="F59E0B"/>
                </a:solidFill>
                <a:latin typeface="Calibri" pitchFamily="34" charset="0"/>
                <a:ea typeface="Calibri" pitchFamily="34" charset="-122"/>
                <a:cs typeface="Calibri" pitchFamily="34" charset="-120"/>
              </a:rPr>
              <a:t>↑ 0.2%</a:t>
            </a:r>
            <a:endParaRPr lang="en-US" sz="900" dirty="0"/>
          </a:p>
        </p:txBody>
      </p:sp>
      <p:sp>
        <p:nvSpPr>
          <p:cNvPr id="32" name="Shape 29"/>
          <p:cNvSpPr/>
          <p:nvPr/>
        </p:nvSpPr>
        <p:spPr>
          <a:xfrm>
            <a:off x="8106156" y="2221992"/>
            <a:ext cx="3584448" cy="1261872"/>
          </a:xfrm>
          <a:prstGeom prst="rect">
            <a:avLst/>
          </a:prstGeom>
          <a:solidFill>
            <a:srgbClr val="132035"/>
          </a:solidFill>
          <a:ln w="6350">
            <a:solidFill>
              <a:srgbClr val="1A2B47"/>
            </a:solidFill>
            <a:prstDash val="solid"/>
          </a:ln>
          <a:effectLst>
            <a:outerShdw blurRad="101600" dist="25400" dir="8100000" algn="bl" rotWithShape="0">
              <a:srgbClr val="000000">
                <a:alpha val="30000"/>
              </a:srgbClr>
            </a:outerShdw>
          </a:effectLst>
        </p:spPr>
        <p:txBody>
          <a:bodyPr/>
          <a:lstStyle/>
          <a:p>
            <a:endParaRPr lang="en-US"/>
          </a:p>
        </p:txBody>
      </p:sp>
      <p:sp>
        <p:nvSpPr>
          <p:cNvPr id="33" name="Shape 30"/>
          <p:cNvSpPr/>
          <p:nvPr/>
        </p:nvSpPr>
        <p:spPr>
          <a:xfrm>
            <a:off x="8106156" y="2221992"/>
            <a:ext cx="3584448" cy="36576"/>
          </a:xfrm>
          <a:prstGeom prst="rect">
            <a:avLst/>
          </a:prstGeom>
          <a:solidFill>
            <a:srgbClr val="00B4D8"/>
          </a:solidFill>
          <a:ln w="12700">
            <a:solidFill>
              <a:srgbClr val="00B4D8"/>
            </a:solidFill>
            <a:prstDash val="solid"/>
          </a:ln>
        </p:spPr>
        <p:txBody>
          <a:bodyPr/>
          <a:lstStyle/>
          <a:p>
            <a:endParaRPr lang="en-US"/>
          </a:p>
        </p:txBody>
      </p:sp>
      <p:sp>
        <p:nvSpPr>
          <p:cNvPr id="34" name="Text 31"/>
          <p:cNvSpPr/>
          <p:nvPr/>
        </p:nvSpPr>
        <p:spPr>
          <a:xfrm>
            <a:off x="8270748" y="2350008"/>
            <a:ext cx="3255264" cy="201168"/>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ON-TIME DELIVERY</a:t>
            </a:r>
            <a:endParaRPr lang="en-US" sz="750" dirty="0"/>
          </a:p>
        </p:txBody>
      </p:sp>
      <p:sp>
        <p:nvSpPr>
          <p:cNvPr id="35" name="Text 32"/>
          <p:cNvSpPr/>
          <p:nvPr/>
        </p:nvSpPr>
        <p:spPr>
          <a:xfrm>
            <a:off x="8270748" y="2532888"/>
            <a:ext cx="3255264"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94.2%</a:t>
            </a:r>
            <a:endParaRPr lang="en-US" sz="3000" dirty="0"/>
          </a:p>
        </p:txBody>
      </p:sp>
      <p:sp>
        <p:nvSpPr>
          <p:cNvPr id="36" name="Text 33"/>
          <p:cNvSpPr/>
          <p:nvPr/>
        </p:nvSpPr>
        <p:spPr>
          <a:xfrm>
            <a:off x="8270748" y="3090672"/>
            <a:ext cx="3255264" cy="201168"/>
          </a:xfrm>
          <a:prstGeom prst="rect">
            <a:avLst/>
          </a:prstGeom>
          <a:noFill/>
          <a:ln/>
        </p:spPr>
        <p:txBody>
          <a:bodyPr wrap="square" lIns="0" tIns="0" rIns="0" bIns="0" rtlCol="0" anchor="ctr"/>
          <a:lstStyle/>
          <a:p>
            <a:pPr marL="0" indent="0">
              <a:buNone/>
            </a:pPr>
            <a:r>
              <a:rPr lang="en-US" sz="900" dirty="0">
                <a:solidFill>
                  <a:srgbClr val="22C55E"/>
                </a:solidFill>
                <a:latin typeface="Calibri" pitchFamily="34" charset="0"/>
                <a:ea typeface="Calibri" pitchFamily="34" charset="-122"/>
                <a:cs typeface="Calibri" pitchFamily="34" charset="-120"/>
              </a:rPr>
              <a:t>↑ ↑ 0.2pp</a:t>
            </a:r>
            <a:endParaRPr lang="en-US" sz="900" dirty="0"/>
          </a:p>
        </p:txBody>
      </p:sp>
      <p:sp>
        <p:nvSpPr>
          <p:cNvPr id="37" name="Shape 34"/>
          <p:cNvSpPr/>
          <p:nvPr/>
        </p:nvSpPr>
        <p:spPr>
          <a:xfrm>
            <a:off x="502920" y="3831336"/>
            <a:ext cx="11183112" cy="2715768"/>
          </a:xfrm>
          <a:prstGeom prst="rect">
            <a:avLst/>
          </a:prstGeom>
          <a:solidFill>
            <a:srgbClr val="132035"/>
          </a:solidFill>
          <a:ln w="6350">
            <a:solidFill>
              <a:srgbClr val="1A2B47"/>
            </a:solidFill>
            <a:prstDash val="solid"/>
          </a:ln>
        </p:spPr>
        <p:txBody>
          <a:bodyPr/>
          <a:lstStyle/>
          <a:p>
            <a:endParaRPr lang="en-US"/>
          </a:p>
        </p:txBody>
      </p:sp>
      <p:sp>
        <p:nvSpPr>
          <p:cNvPr id="38" name="Text 35"/>
          <p:cNvSpPr/>
          <p:nvPr/>
        </p:nvSpPr>
        <p:spPr>
          <a:xfrm>
            <a:off x="685800" y="3941064"/>
            <a:ext cx="3657600" cy="201168"/>
          </a:xfrm>
          <a:prstGeom prst="rect">
            <a:avLst/>
          </a:prstGeom>
          <a:noFill/>
          <a:ln/>
        </p:spPr>
        <p:txBody>
          <a:bodyPr wrap="square" lIns="0" tIns="0" rIns="0" bIns="0" rtlCol="0" anchor="ctr"/>
          <a:lstStyle/>
          <a:p>
            <a:pPr marL="0" indent="0">
              <a:buNone/>
            </a:pPr>
            <a:r>
              <a:rPr lang="en-US" sz="1400" b="1" kern="0" spc="150" dirty="0">
                <a:solidFill>
                  <a:srgbClr val="00B4D8"/>
                </a:solidFill>
                <a:latin typeface="Calibri" pitchFamily="34" charset="0"/>
                <a:ea typeface="Calibri" pitchFamily="34" charset="-122"/>
                <a:cs typeface="Calibri" pitchFamily="34" charset="-120"/>
              </a:rPr>
              <a:t>EXECUTIVE COMMENTARY</a:t>
            </a:r>
            <a:endParaRPr lang="en-US" sz="1400" dirty="0"/>
          </a:p>
        </p:txBody>
      </p:sp>
      <p:sp>
        <p:nvSpPr>
          <p:cNvPr id="39" name="Text 36"/>
          <p:cNvSpPr/>
          <p:nvPr/>
        </p:nvSpPr>
        <p:spPr>
          <a:xfrm>
            <a:off x="685800" y="4123944"/>
            <a:ext cx="10817352" cy="2350008"/>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In May 2025, the South region delivered a total revenue of $12.44M, growing by 0.97% month-over-month, while operating margin improved to 8.54%. On-time delivery reached 94.2%, showing consistent performance across fleets. Fuel costs emerged as the primary cost driver for the period, requiring ongoing vigilance. Overall, business conditions remain robust with improvements both in revenue and margin.</a:t>
            </a:r>
            <a:endParaRPr lang="en-US" sz="1200" dirty="0"/>
          </a:p>
        </p:txBody>
      </p:sp>
      <p:sp>
        <p:nvSpPr>
          <p:cNvPr id="40" name="Shape 37"/>
          <p:cNvSpPr/>
          <p:nvPr/>
        </p:nvSpPr>
        <p:spPr>
          <a:xfrm>
            <a:off x="0" y="6638544"/>
            <a:ext cx="12188952" cy="219456"/>
          </a:xfrm>
          <a:prstGeom prst="rect">
            <a:avLst/>
          </a:prstGeom>
          <a:solidFill>
            <a:srgbClr val="050C18"/>
          </a:solidFill>
          <a:ln w="12700">
            <a:solidFill>
              <a:srgbClr val="050C18"/>
            </a:solidFill>
            <a:prstDash val="solid"/>
          </a:ln>
        </p:spPr>
        <p:txBody>
          <a:bodyPr/>
          <a:lstStyle/>
          <a:p>
            <a:endParaRPr lang="en-US"/>
          </a:p>
        </p:txBody>
      </p:sp>
      <p:sp>
        <p:nvSpPr>
          <p:cNvPr id="41" name="Text 38"/>
          <p:cNvSpPr/>
          <p:nvPr/>
        </p:nvSpPr>
        <p:spPr>
          <a:xfrm>
            <a:off x="502920" y="6638544"/>
            <a:ext cx="11183112" cy="219456"/>
          </a:xfrm>
          <a:prstGeom prst="rect">
            <a:avLst/>
          </a:prstGeom>
          <a:noFill/>
          <a:ln/>
        </p:spPr>
        <p:txBody>
          <a:bodyPr wrap="square" lIns="0" tIns="0" rIns="0" bIns="0" rtlCol="0" anchor="ctr"/>
          <a:lstStyle/>
          <a:p>
            <a:pPr marL="0" indent="0" algn="ctr">
              <a:buNone/>
            </a:pPr>
            <a:r>
              <a:rPr lang="en-US" sz="700" dirty="0">
                <a:solidFill>
                  <a:srgbClr val="4B5E78"/>
                </a:solidFill>
                <a:latin typeface="Calibri" pitchFamily="34" charset="0"/>
                <a:ea typeface="Calibri" pitchFamily="34" charset="-122"/>
                <a:cs typeface="Calibri" pitchFamily="34" charset="-120"/>
              </a:rPr>
              <a:t>May 2025  ·  Confidential  ·  Page 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F1C"/>
        </a:solidFill>
        <a:effectLst/>
      </p:bgPr>
    </p:bg>
    <p:spTree>
      <p:nvGrpSpPr>
        <p:cNvPr id="1" name=""/>
        <p:cNvGrpSpPr/>
        <p:nvPr/>
      </p:nvGrpSpPr>
      <p:grpSpPr>
        <a:xfrm>
          <a:off x="0" y="0"/>
          <a:ext cx="0" cy="0"/>
          <a:chOff x="0" y="0"/>
          <a:chExt cx="0" cy="0"/>
        </a:xfrm>
      </p:grpSpPr>
      <p:sp>
        <p:nvSpPr>
          <p:cNvPr id="3" name="Text 0"/>
          <p:cNvSpPr/>
          <p:nvPr/>
        </p:nvSpPr>
        <p:spPr>
          <a:xfrm>
            <a:off x="502920" y="164592"/>
            <a:ext cx="11183112"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Revenue Performance</a:t>
            </a:r>
            <a:endParaRPr lang="en-US" sz="2000" dirty="0"/>
          </a:p>
        </p:txBody>
      </p:sp>
      <p:sp>
        <p:nvSpPr>
          <p:cNvPr id="4" name="Shape 1"/>
          <p:cNvSpPr/>
          <p:nvPr/>
        </p:nvSpPr>
        <p:spPr>
          <a:xfrm>
            <a:off x="502920" y="640080"/>
            <a:ext cx="11183112" cy="22860"/>
          </a:xfrm>
          <a:prstGeom prst="rect">
            <a:avLst/>
          </a:prstGeom>
          <a:solidFill>
            <a:srgbClr val="00B4D8"/>
          </a:solidFill>
          <a:ln w="12700">
            <a:solidFill>
              <a:srgbClr val="00B4D8"/>
            </a:solidFill>
            <a:prstDash val="solid"/>
          </a:ln>
        </p:spPr>
        <p:txBody>
          <a:bodyPr/>
          <a:lstStyle/>
          <a:p>
            <a:endParaRPr lang="en-US"/>
          </a:p>
        </p:txBody>
      </p:sp>
      <p:sp>
        <p:nvSpPr>
          <p:cNvPr id="5" name="Shape 2"/>
          <p:cNvSpPr/>
          <p:nvPr/>
        </p:nvSpPr>
        <p:spPr>
          <a:xfrm>
            <a:off x="502920" y="777240"/>
            <a:ext cx="5454396" cy="658368"/>
          </a:xfrm>
          <a:prstGeom prst="rect">
            <a:avLst/>
          </a:prstGeom>
          <a:solidFill>
            <a:srgbClr val="132035"/>
          </a:solidFill>
          <a:ln w="6350">
            <a:solidFill>
              <a:srgbClr val="1A2B47"/>
            </a:solidFill>
            <a:prstDash val="solid"/>
          </a:ln>
        </p:spPr>
        <p:txBody>
          <a:bodyPr/>
          <a:lstStyle/>
          <a:p>
            <a:endParaRPr lang="en-US"/>
          </a:p>
        </p:txBody>
      </p:sp>
      <p:sp>
        <p:nvSpPr>
          <p:cNvPr id="6" name="Text 3"/>
          <p:cNvSpPr/>
          <p:nvPr/>
        </p:nvSpPr>
        <p:spPr>
          <a:xfrm>
            <a:off x="685800" y="923544"/>
            <a:ext cx="5088636" cy="402336"/>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PRIOR PERIOD  </a:t>
            </a:r>
            <a:r>
              <a:rPr lang="en-US" sz="1800" b="1" dirty="0">
                <a:solidFill>
                  <a:srgbClr val="FFFFFF"/>
                </a:solidFill>
                <a:latin typeface="Calibri" pitchFamily="34" charset="0"/>
                <a:ea typeface="Calibri" pitchFamily="34" charset="-122"/>
                <a:cs typeface="Calibri" pitchFamily="34" charset="-120"/>
              </a:rPr>
              <a:t>$12.32M</a:t>
            </a:r>
            <a:endParaRPr lang="en-US" sz="800" dirty="0"/>
          </a:p>
        </p:txBody>
      </p:sp>
      <p:sp>
        <p:nvSpPr>
          <p:cNvPr id="7" name="Shape 4"/>
          <p:cNvSpPr/>
          <p:nvPr/>
        </p:nvSpPr>
        <p:spPr>
          <a:xfrm>
            <a:off x="6231636" y="777240"/>
            <a:ext cx="5454396" cy="658368"/>
          </a:xfrm>
          <a:prstGeom prst="rect">
            <a:avLst/>
          </a:prstGeom>
          <a:solidFill>
            <a:srgbClr val="132035"/>
          </a:solidFill>
          <a:ln w="12700">
            <a:solidFill>
              <a:srgbClr val="00B4D8"/>
            </a:solidFill>
            <a:prstDash val="solid"/>
          </a:ln>
        </p:spPr>
        <p:txBody>
          <a:bodyPr/>
          <a:lstStyle/>
          <a:p>
            <a:endParaRPr lang="en-US"/>
          </a:p>
        </p:txBody>
      </p:sp>
      <p:sp>
        <p:nvSpPr>
          <p:cNvPr id="8" name="Shape 5"/>
          <p:cNvSpPr/>
          <p:nvPr/>
        </p:nvSpPr>
        <p:spPr>
          <a:xfrm>
            <a:off x="6231636" y="777240"/>
            <a:ext cx="5454396" cy="36576"/>
          </a:xfrm>
          <a:prstGeom prst="rect">
            <a:avLst/>
          </a:prstGeom>
          <a:solidFill>
            <a:srgbClr val="00B4D8"/>
          </a:solidFill>
          <a:ln w="12700">
            <a:solidFill>
              <a:srgbClr val="00B4D8"/>
            </a:solidFill>
            <a:prstDash val="solid"/>
          </a:ln>
        </p:spPr>
        <p:txBody>
          <a:bodyPr/>
          <a:lstStyle/>
          <a:p>
            <a:endParaRPr lang="en-US"/>
          </a:p>
        </p:txBody>
      </p:sp>
      <p:sp>
        <p:nvSpPr>
          <p:cNvPr id="9" name="Text 6"/>
          <p:cNvSpPr/>
          <p:nvPr/>
        </p:nvSpPr>
        <p:spPr>
          <a:xfrm>
            <a:off x="6414516" y="923544"/>
            <a:ext cx="5088636" cy="402336"/>
          </a:xfrm>
          <a:prstGeom prst="rect">
            <a:avLst/>
          </a:prstGeom>
          <a:noFill/>
          <a:ln/>
        </p:spPr>
        <p:txBody>
          <a:bodyPr wrap="square" lIns="0" tIns="0" rIns="0" bIns="0" rtlCol="0" anchor="ctr"/>
          <a:lstStyle/>
          <a:p>
            <a:pPr marL="0" indent="0">
              <a:buNone/>
            </a:pPr>
            <a:r>
              <a:rPr lang="en-US" sz="800" dirty="0">
                <a:solidFill>
                  <a:srgbClr val="00B4D8"/>
                </a:solidFill>
                <a:latin typeface="Calibri" pitchFamily="34" charset="0"/>
                <a:ea typeface="Calibri" pitchFamily="34" charset="-122"/>
                <a:cs typeface="Calibri" pitchFamily="34" charset="-120"/>
              </a:rPr>
              <a:t>CURRENT PERIOD  </a:t>
            </a:r>
            <a:r>
              <a:rPr lang="en-US" sz="1800" b="1" dirty="0">
                <a:solidFill>
                  <a:srgbClr val="FFFFFF"/>
                </a:solidFill>
                <a:latin typeface="Calibri" pitchFamily="34" charset="0"/>
                <a:ea typeface="Calibri" pitchFamily="34" charset="-122"/>
                <a:cs typeface="Calibri" pitchFamily="34" charset="-120"/>
              </a:rPr>
              <a:t>$12.44M</a:t>
            </a:r>
            <a:r>
              <a:rPr lang="en-US" sz="1100" b="1" dirty="0">
                <a:solidFill>
                  <a:srgbClr val="22C55E"/>
                </a:solidFill>
                <a:latin typeface="Calibri" pitchFamily="34" charset="0"/>
                <a:ea typeface="Calibri" pitchFamily="34" charset="-122"/>
                <a:cs typeface="Calibri" pitchFamily="34" charset="-120"/>
              </a:rPr>
              <a:t>  ↑ 1.0%</a:t>
            </a:r>
            <a:endParaRPr lang="en-US" sz="800" dirty="0"/>
          </a:p>
        </p:txBody>
      </p:sp>
      <p:sp>
        <p:nvSpPr>
          <p:cNvPr id="10" name="Shape 7"/>
          <p:cNvSpPr/>
          <p:nvPr/>
        </p:nvSpPr>
        <p:spPr>
          <a:xfrm>
            <a:off x="502920" y="1563624"/>
            <a:ext cx="7388352" cy="4983480"/>
          </a:xfrm>
          <a:prstGeom prst="rect">
            <a:avLst/>
          </a:prstGeom>
          <a:solidFill>
            <a:srgbClr val="0D1E33"/>
          </a:solidFill>
          <a:ln w="12700">
            <a:solidFill>
              <a:srgbClr val="00B4D8"/>
            </a:solidFill>
            <a:prstDash val="dash"/>
          </a:ln>
        </p:spPr>
        <p:txBody>
          <a:bodyPr/>
          <a:lstStyle/>
          <a:p>
            <a:endParaRPr lang="en-US" dirty="0"/>
          </a:p>
        </p:txBody>
      </p:sp>
      <p:sp>
        <p:nvSpPr>
          <p:cNvPr id="12" name="Shape 9"/>
          <p:cNvSpPr/>
          <p:nvPr/>
        </p:nvSpPr>
        <p:spPr>
          <a:xfrm>
            <a:off x="8119872" y="1563624"/>
            <a:ext cx="3566160" cy="2400300"/>
          </a:xfrm>
          <a:prstGeom prst="rect">
            <a:avLst/>
          </a:prstGeom>
          <a:solidFill>
            <a:srgbClr val="132035"/>
          </a:solidFill>
          <a:ln w="6350">
            <a:solidFill>
              <a:srgbClr val="1A2B47"/>
            </a:solidFill>
            <a:prstDash val="solid"/>
          </a:ln>
        </p:spPr>
        <p:txBody>
          <a:bodyPr/>
          <a:lstStyle/>
          <a:p>
            <a:endParaRPr lang="en-US"/>
          </a:p>
        </p:txBody>
      </p:sp>
      <p:sp>
        <p:nvSpPr>
          <p:cNvPr id="13" name="Shape 10"/>
          <p:cNvSpPr/>
          <p:nvPr/>
        </p:nvSpPr>
        <p:spPr>
          <a:xfrm>
            <a:off x="8119872" y="1563624"/>
            <a:ext cx="3566160" cy="36576"/>
          </a:xfrm>
          <a:prstGeom prst="rect">
            <a:avLst/>
          </a:prstGeom>
          <a:solidFill>
            <a:srgbClr val="00B4D8"/>
          </a:solidFill>
          <a:ln w="12700">
            <a:solidFill>
              <a:srgbClr val="00B4D8"/>
            </a:solidFill>
            <a:prstDash val="solid"/>
          </a:ln>
        </p:spPr>
        <p:txBody>
          <a:bodyPr/>
          <a:lstStyle/>
          <a:p>
            <a:endParaRPr lang="en-US"/>
          </a:p>
        </p:txBody>
      </p:sp>
      <p:sp>
        <p:nvSpPr>
          <p:cNvPr id="14" name="Text 11"/>
          <p:cNvSpPr/>
          <p:nvPr/>
        </p:nvSpPr>
        <p:spPr>
          <a:xfrm>
            <a:off x="8247888" y="1673352"/>
            <a:ext cx="3310128" cy="182880"/>
          </a:xfrm>
          <a:prstGeom prst="rect">
            <a:avLst/>
          </a:prstGeom>
          <a:noFill/>
          <a:ln/>
        </p:spPr>
        <p:txBody>
          <a:bodyPr wrap="square" lIns="0" tIns="0" rIns="0" bIns="0" rtlCol="0" anchor="ctr"/>
          <a:lstStyle/>
          <a:p>
            <a:pPr marL="0" indent="0">
              <a:buNone/>
            </a:pPr>
            <a:r>
              <a:rPr lang="en-US" sz="750" b="1" kern="0" spc="150" dirty="0">
                <a:solidFill>
                  <a:srgbClr val="00B4D8"/>
                </a:solidFill>
                <a:latin typeface="Calibri" pitchFamily="34" charset="0"/>
                <a:ea typeface="Calibri" pitchFamily="34" charset="-122"/>
                <a:cs typeface="Calibri" pitchFamily="34" charset="-120"/>
              </a:rPr>
              <a:t>KEY INSIGHT</a:t>
            </a:r>
            <a:endParaRPr lang="en-US" sz="750" dirty="0"/>
          </a:p>
        </p:txBody>
      </p:sp>
      <p:sp>
        <p:nvSpPr>
          <p:cNvPr id="15" name="Text 12"/>
          <p:cNvSpPr/>
          <p:nvPr/>
        </p:nvSpPr>
        <p:spPr>
          <a:xfrm>
            <a:off x="8247888" y="1837944"/>
            <a:ext cx="3310128" cy="2052828"/>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Dry Van reported the best on-time delivery at 96.0%, while Tanker lags at 91.4%, leaving room for focused service improvement.</a:t>
            </a:r>
            <a:endParaRPr lang="en-US" sz="1000" dirty="0"/>
          </a:p>
        </p:txBody>
      </p:sp>
      <p:sp>
        <p:nvSpPr>
          <p:cNvPr id="16" name="Shape 13"/>
          <p:cNvSpPr/>
          <p:nvPr/>
        </p:nvSpPr>
        <p:spPr>
          <a:xfrm>
            <a:off x="8119872" y="4146804"/>
            <a:ext cx="3566160" cy="2400300"/>
          </a:xfrm>
          <a:prstGeom prst="rect">
            <a:avLst/>
          </a:prstGeom>
          <a:solidFill>
            <a:srgbClr val="132035"/>
          </a:solidFill>
          <a:ln w="6350">
            <a:solidFill>
              <a:srgbClr val="1A2B47"/>
            </a:solidFill>
            <a:prstDash val="solid"/>
          </a:ln>
        </p:spPr>
        <p:txBody>
          <a:bodyPr/>
          <a:lstStyle/>
          <a:p>
            <a:endParaRPr lang="en-US"/>
          </a:p>
        </p:txBody>
      </p:sp>
      <p:sp>
        <p:nvSpPr>
          <p:cNvPr id="17" name="Shape 14"/>
          <p:cNvSpPr/>
          <p:nvPr/>
        </p:nvSpPr>
        <p:spPr>
          <a:xfrm>
            <a:off x="8119872" y="4146804"/>
            <a:ext cx="3566160" cy="36576"/>
          </a:xfrm>
          <a:prstGeom prst="rect">
            <a:avLst/>
          </a:prstGeom>
          <a:solidFill>
            <a:srgbClr val="00B4D8"/>
          </a:solidFill>
          <a:ln w="12700">
            <a:solidFill>
              <a:srgbClr val="00B4D8"/>
            </a:solidFill>
            <a:prstDash val="solid"/>
          </a:ln>
        </p:spPr>
        <p:txBody>
          <a:bodyPr/>
          <a:lstStyle/>
          <a:p>
            <a:endParaRPr lang="en-US"/>
          </a:p>
        </p:txBody>
      </p:sp>
      <p:sp>
        <p:nvSpPr>
          <p:cNvPr id="18" name="Text 15"/>
          <p:cNvSpPr/>
          <p:nvPr/>
        </p:nvSpPr>
        <p:spPr>
          <a:xfrm>
            <a:off x="8247888" y="4256532"/>
            <a:ext cx="3310128" cy="182880"/>
          </a:xfrm>
          <a:prstGeom prst="rect">
            <a:avLst/>
          </a:prstGeom>
          <a:noFill/>
          <a:ln/>
        </p:spPr>
        <p:txBody>
          <a:bodyPr wrap="square" lIns="0" tIns="0" rIns="0" bIns="0" rtlCol="0" anchor="ctr"/>
          <a:lstStyle/>
          <a:p>
            <a:pPr marL="0" indent="0">
              <a:buNone/>
            </a:pPr>
            <a:r>
              <a:rPr lang="en-US" sz="750" b="1" kern="0" spc="150" dirty="0">
                <a:solidFill>
                  <a:srgbClr val="00B4D8"/>
                </a:solidFill>
                <a:latin typeface="Calibri" pitchFamily="34" charset="0"/>
                <a:ea typeface="Calibri" pitchFamily="34" charset="-122"/>
                <a:cs typeface="Calibri" pitchFamily="34" charset="-120"/>
              </a:rPr>
              <a:t>KEY INSIGHT</a:t>
            </a:r>
            <a:endParaRPr lang="en-US" sz="750" dirty="0"/>
          </a:p>
        </p:txBody>
      </p:sp>
      <p:sp>
        <p:nvSpPr>
          <p:cNvPr id="19" name="Text 16"/>
          <p:cNvSpPr/>
          <p:nvPr/>
        </p:nvSpPr>
        <p:spPr>
          <a:xfrm>
            <a:off x="8247888" y="4421124"/>
            <a:ext cx="3310128" cy="2052828"/>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All vehicle types except Tanker saw slight improvement in punctuality over last period.</a:t>
            </a:r>
            <a:endParaRPr lang="en-US" sz="1000" dirty="0"/>
          </a:p>
        </p:txBody>
      </p:sp>
      <p:sp>
        <p:nvSpPr>
          <p:cNvPr id="20" name="Shape 17"/>
          <p:cNvSpPr/>
          <p:nvPr/>
        </p:nvSpPr>
        <p:spPr>
          <a:xfrm>
            <a:off x="0" y="6638544"/>
            <a:ext cx="12188952" cy="219456"/>
          </a:xfrm>
          <a:prstGeom prst="rect">
            <a:avLst/>
          </a:prstGeom>
          <a:solidFill>
            <a:srgbClr val="050C18"/>
          </a:solidFill>
          <a:ln w="12700">
            <a:solidFill>
              <a:srgbClr val="050C18"/>
            </a:solidFill>
            <a:prstDash val="solid"/>
          </a:ln>
        </p:spPr>
        <p:txBody>
          <a:bodyPr/>
          <a:lstStyle/>
          <a:p>
            <a:endParaRPr lang="en-US"/>
          </a:p>
        </p:txBody>
      </p:sp>
      <p:sp>
        <p:nvSpPr>
          <p:cNvPr id="21" name="Text 18"/>
          <p:cNvSpPr/>
          <p:nvPr/>
        </p:nvSpPr>
        <p:spPr>
          <a:xfrm>
            <a:off x="502920" y="6638544"/>
            <a:ext cx="11183112" cy="219456"/>
          </a:xfrm>
          <a:prstGeom prst="rect">
            <a:avLst/>
          </a:prstGeom>
          <a:noFill/>
          <a:ln/>
        </p:spPr>
        <p:txBody>
          <a:bodyPr wrap="square" lIns="0" tIns="0" rIns="0" bIns="0" rtlCol="0" anchor="ctr"/>
          <a:lstStyle/>
          <a:p>
            <a:pPr marL="0" indent="0" algn="ctr">
              <a:buNone/>
            </a:pPr>
            <a:r>
              <a:rPr lang="en-US" sz="700" dirty="0">
                <a:solidFill>
                  <a:srgbClr val="4B5E78"/>
                </a:solidFill>
                <a:latin typeface="Calibri" pitchFamily="34" charset="0"/>
                <a:ea typeface="Calibri" pitchFamily="34" charset="-122"/>
                <a:cs typeface="Calibri" pitchFamily="34" charset="-120"/>
              </a:rPr>
              <a:t>May 2025  ·  Confidential  ·  Page 3</a:t>
            </a:r>
            <a:endParaRPr lang="en-US" sz="700" dirty="0"/>
          </a:p>
        </p:txBody>
      </p:sp>
      <p:graphicFrame>
        <p:nvGraphicFramePr>
          <p:cNvPr id="23" name="revenue_trend_chart">
            <a:extLst>
              <a:ext uri="{FF2B5EF4-FFF2-40B4-BE49-F238E27FC236}">
                <a16:creationId xmlns:a16="http://schemas.microsoft.com/office/drawing/2014/main" id="{B536A059-14CF-1917-2DB2-34C757AD397D}"/>
              </a:ext>
            </a:extLst>
          </p:cNvPr>
          <p:cNvGraphicFramePr/>
          <p:nvPr>
            <p:extLst>
              <p:ext uri="{D42A27DB-BD31-4B8C-83A1-F6EECF244321}">
                <p14:modId xmlns:p14="http://schemas.microsoft.com/office/powerpoint/2010/main" val="1062117357"/>
              </p:ext>
            </p:extLst>
          </p:nvPr>
        </p:nvGraphicFramePr>
        <p:xfrm>
          <a:off x="685800" y="1673352"/>
          <a:ext cx="7046495" cy="4464981"/>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F1C"/>
        </a:solidFill>
        <a:effectLst/>
      </p:bgPr>
    </p:bg>
    <p:spTree>
      <p:nvGrpSpPr>
        <p:cNvPr id="1" name=""/>
        <p:cNvGrpSpPr/>
        <p:nvPr/>
      </p:nvGrpSpPr>
      <p:grpSpPr>
        <a:xfrm>
          <a:off x="0" y="0"/>
          <a:ext cx="0" cy="0"/>
          <a:chOff x="0" y="0"/>
          <a:chExt cx="0" cy="0"/>
        </a:xfrm>
      </p:grpSpPr>
      <p:sp>
        <p:nvSpPr>
          <p:cNvPr id="3" name="Text 0"/>
          <p:cNvSpPr/>
          <p:nvPr/>
        </p:nvSpPr>
        <p:spPr>
          <a:xfrm>
            <a:off x="502920" y="164592"/>
            <a:ext cx="11183112"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Cost Management</a:t>
            </a:r>
            <a:endParaRPr lang="en-US" sz="2000" dirty="0"/>
          </a:p>
        </p:txBody>
      </p:sp>
      <p:sp>
        <p:nvSpPr>
          <p:cNvPr id="4" name="Shape 1"/>
          <p:cNvSpPr/>
          <p:nvPr/>
        </p:nvSpPr>
        <p:spPr>
          <a:xfrm>
            <a:off x="502920" y="640080"/>
            <a:ext cx="11183112" cy="22860"/>
          </a:xfrm>
          <a:prstGeom prst="rect">
            <a:avLst/>
          </a:prstGeom>
          <a:solidFill>
            <a:srgbClr val="00B4D8"/>
          </a:solidFill>
          <a:ln w="12700">
            <a:solidFill>
              <a:srgbClr val="00B4D8"/>
            </a:solidFill>
            <a:prstDash val="solid"/>
          </a:ln>
        </p:spPr>
        <p:txBody>
          <a:bodyPr/>
          <a:lstStyle/>
          <a:p>
            <a:endParaRPr lang="en-US"/>
          </a:p>
        </p:txBody>
      </p:sp>
      <p:sp>
        <p:nvSpPr>
          <p:cNvPr id="5" name="Shape 2"/>
          <p:cNvSpPr/>
          <p:nvPr/>
        </p:nvSpPr>
        <p:spPr>
          <a:xfrm>
            <a:off x="502920" y="777240"/>
            <a:ext cx="5454396" cy="960120"/>
          </a:xfrm>
          <a:prstGeom prst="rect">
            <a:avLst/>
          </a:prstGeom>
          <a:solidFill>
            <a:srgbClr val="132035"/>
          </a:solidFill>
          <a:ln w="12700">
            <a:solidFill>
              <a:srgbClr val="F59E0B"/>
            </a:solidFill>
            <a:prstDash val="solid"/>
          </a:ln>
        </p:spPr>
        <p:txBody>
          <a:bodyPr/>
          <a:lstStyle/>
          <a:p>
            <a:endParaRPr lang="en-US"/>
          </a:p>
        </p:txBody>
      </p:sp>
      <p:sp>
        <p:nvSpPr>
          <p:cNvPr id="6" name="Shape 3"/>
          <p:cNvSpPr/>
          <p:nvPr/>
        </p:nvSpPr>
        <p:spPr>
          <a:xfrm>
            <a:off x="502920" y="777240"/>
            <a:ext cx="5454396" cy="36576"/>
          </a:xfrm>
          <a:prstGeom prst="rect">
            <a:avLst/>
          </a:prstGeom>
          <a:solidFill>
            <a:srgbClr val="F59E0B"/>
          </a:solidFill>
          <a:ln w="12700">
            <a:solidFill>
              <a:srgbClr val="F59E0B"/>
            </a:solidFill>
            <a:prstDash val="solid"/>
          </a:ln>
        </p:spPr>
        <p:txBody>
          <a:bodyPr/>
          <a:lstStyle/>
          <a:p>
            <a:endParaRPr lang="en-US"/>
          </a:p>
        </p:txBody>
      </p:sp>
      <p:sp>
        <p:nvSpPr>
          <p:cNvPr id="7" name="Text 4"/>
          <p:cNvSpPr/>
          <p:nvPr/>
        </p:nvSpPr>
        <p:spPr>
          <a:xfrm>
            <a:off x="667512" y="886968"/>
            <a:ext cx="5125212" cy="182880"/>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COST PER HOUR</a:t>
            </a:r>
            <a:endParaRPr lang="en-US" sz="750" dirty="0"/>
          </a:p>
        </p:txBody>
      </p:sp>
      <p:sp>
        <p:nvSpPr>
          <p:cNvPr id="8" name="Text 5"/>
          <p:cNvSpPr/>
          <p:nvPr/>
        </p:nvSpPr>
        <p:spPr>
          <a:xfrm>
            <a:off x="667512" y="1051560"/>
            <a:ext cx="5125212"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$11.52</a:t>
            </a:r>
            <a:endParaRPr lang="en-US" sz="2600" dirty="0"/>
          </a:p>
        </p:txBody>
      </p:sp>
      <p:sp>
        <p:nvSpPr>
          <p:cNvPr id="9" name="Text 6"/>
          <p:cNvSpPr/>
          <p:nvPr/>
        </p:nvSpPr>
        <p:spPr>
          <a:xfrm>
            <a:off x="667512" y="1545336"/>
            <a:ext cx="5125212" cy="182880"/>
          </a:xfrm>
          <a:prstGeom prst="rect">
            <a:avLst/>
          </a:prstGeom>
          <a:noFill/>
          <a:ln/>
        </p:spPr>
        <p:txBody>
          <a:bodyPr wrap="square" lIns="0" tIns="0" rIns="0" bIns="0" rtlCol="0" anchor="ctr"/>
          <a:lstStyle/>
          <a:p>
            <a:pPr marL="0" indent="0">
              <a:buNone/>
            </a:pPr>
            <a:r>
              <a:rPr lang="en-US" sz="900" dirty="0">
                <a:solidFill>
                  <a:srgbClr val="F59E0B"/>
                </a:solidFill>
                <a:latin typeface="Calibri" pitchFamily="34" charset="0"/>
                <a:ea typeface="Calibri" pitchFamily="34" charset="-122"/>
                <a:cs typeface="Calibri" pitchFamily="34" charset="-120"/>
              </a:rPr>
              <a:t>↑ 0.2%</a:t>
            </a:r>
            <a:endParaRPr lang="en-US" sz="900" dirty="0"/>
          </a:p>
        </p:txBody>
      </p:sp>
      <p:sp>
        <p:nvSpPr>
          <p:cNvPr id="10" name="Shape 7"/>
          <p:cNvSpPr/>
          <p:nvPr/>
        </p:nvSpPr>
        <p:spPr>
          <a:xfrm>
            <a:off x="6231636" y="777240"/>
            <a:ext cx="5454396" cy="960120"/>
          </a:xfrm>
          <a:prstGeom prst="rect">
            <a:avLst/>
          </a:prstGeom>
          <a:solidFill>
            <a:srgbClr val="132035"/>
          </a:solidFill>
          <a:ln w="12700">
            <a:solidFill>
              <a:srgbClr val="F97316"/>
            </a:solidFill>
            <a:prstDash val="solid"/>
          </a:ln>
        </p:spPr>
        <p:txBody>
          <a:bodyPr/>
          <a:lstStyle/>
          <a:p>
            <a:endParaRPr lang="en-US"/>
          </a:p>
        </p:txBody>
      </p:sp>
      <p:sp>
        <p:nvSpPr>
          <p:cNvPr id="11" name="Shape 8"/>
          <p:cNvSpPr/>
          <p:nvPr/>
        </p:nvSpPr>
        <p:spPr>
          <a:xfrm>
            <a:off x="6231636" y="777240"/>
            <a:ext cx="5454396" cy="36576"/>
          </a:xfrm>
          <a:prstGeom prst="rect">
            <a:avLst/>
          </a:prstGeom>
          <a:solidFill>
            <a:srgbClr val="F97316"/>
          </a:solidFill>
          <a:ln w="12700">
            <a:solidFill>
              <a:srgbClr val="F97316"/>
            </a:solidFill>
            <a:prstDash val="solid"/>
          </a:ln>
        </p:spPr>
        <p:txBody>
          <a:bodyPr/>
          <a:lstStyle/>
          <a:p>
            <a:endParaRPr lang="en-US"/>
          </a:p>
        </p:txBody>
      </p:sp>
      <p:sp>
        <p:nvSpPr>
          <p:cNvPr id="12" name="Text 9"/>
          <p:cNvSpPr/>
          <p:nvPr/>
        </p:nvSpPr>
        <p:spPr>
          <a:xfrm>
            <a:off x="6396228" y="886968"/>
            <a:ext cx="5125212" cy="182880"/>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TOTAL COST</a:t>
            </a:r>
            <a:endParaRPr lang="en-US" sz="750" dirty="0"/>
          </a:p>
        </p:txBody>
      </p:sp>
      <p:sp>
        <p:nvSpPr>
          <p:cNvPr id="13" name="Text 10"/>
          <p:cNvSpPr/>
          <p:nvPr/>
        </p:nvSpPr>
        <p:spPr>
          <a:xfrm>
            <a:off x="6396228" y="1051560"/>
            <a:ext cx="5125212"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$11.20M</a:t>
            </a:r>
            <a:endParaRPr lang="en-US" sz="2600" dirty="0"/>
          </a:p>
        </p:txBody>
      </p:sp>
      <p:sp>
        <p:nvSpPr>
          <p:cNvPr id="14" name="Text 11"/>
          <p:cNvSpPr/>
          <p:nvPr/>
        </p:nvSpPr>
        <p:spPr>
          <a:xfrm>
            <a:off x="6396228" y="1545336"/>
            <a:ext cx="5125212" cy="182880"/>
          </a:xfrm>
          <a:prstGeom prst="rect">
            <a:avLst/>
          </a:prstGeom>
          <a:noFill/>
          <a:ln/>
        </p:spPr>
        <p:txBody>
          <a:bodyPr wrap="square" lIns="0" tIns="0" rIns="0" bIns="0" rtlCol="0" anchor="ctr"/>
          <a:lstStyle/>
          <a:p>
            <a:pPr marL="0" indent="0">
              <a:buNone/>
            </a:pPr>
            <a:r>
              <a:rPr lang="en-US" sz="900" dirty="0">
                <a:solidFill>
                  <a:srgbClr val="F97316"/>
                </a:solidFill>
                <a:latin typeface="Calibri" pitchFamily="34" charset="0"/>
                <a:ea typeface="Calibri" pitchFamily="34" charset="-122"/>
                <a:cs typeface="Calibri" pitchFamily="34" charset="-120"/>
              </a:rPr>
              <a:t>↑ 0.8%</a:t>
            </a:r>
            <a:endParaRPr lang="en-US" sz="900" dirty="0"/>
          </a:p>
        </p:txBody>
      </p:sp>
      <p:sp>
        <p:nvSpPr>
          <p:cNvPr id="15" name="Shape 12"/>
          <p:cNvSpPr/>
          <p:nvPr/>
        </p:nvSpPr>
        <p:spPr>
          <a:xfrm>
            <a:off x="502920" y="1901952"/>
            <a:ext cx="7388352" cy="4645152"/>
          </a:xfrm>
          <a:prstGeom prst="rect">
            <a:avLst/>
          </a:prstGeom>
          <a:solidFill>
            <a:srgbClr val="0D1E33"/>
          </a:solidFill>
          <a:ln w="12700">
            <a:solidFill>
              <a:srgbClr val="00B4D8"/>
            </a:solidFill>
            <a:prstDash val="dash"/>
          </a:ln>
        </p:spPr>
        <p:txBody>
          <a:bodyPr/>
          <a:lstStyle/>
          <a:p>
            <a:endParaRPr lang="en-US"/>
          </a:p>
        </p:txBody>
      </p:sp>
      <p:sp>
        <p:nvSpPr>
          <p:cNvPr id="17" name="Shape 14"/>
          <p:cNvSpPr/>
          <p:nvPr/>
        </p:nvSpPr>
        <p:spPr>
          <a:xfrm>
            <a:off x="8119872" y="1901952"/>
            <a:ext cx="3566160" cy="2231136"/>
          </a:xfrm>
          <a:prstGeom prst="rect">
            <a:avLst/>
          </a:prstGeom>
          <a:solidFill>
            <a:srgbClr val="132035"/>
          </a:solidFill>
          <a:ln w="6350">
            <a:solidFill>
              <a:srgbClr val="1A2B47"/>
            </a:solidFill>
            <a:prstDash val="solid"/>
          </a:ln>
        </p:spPr>
        <p:txBody>
          <a:bodyPr/>
          <a:lstStyle/>
          <a:p>
            <a:endParaRPr lang="en-US"/>
          </a:p>
        </p:txBody>
      </p:sp>
      <p:sp>
        <p:nvSpPr>
          <p:cNvPr id="18" name="Shape 15"/>
          <p:cNvSpPr/>
          <p:nvPr/>
        </p:nvSpPr>
        <p:spPr>
          <a:xfrm>
            <a:off x="8119872" y="1901952"/>
            <a:ext cx="3566160" cy="36576"/>
          </a:xfrm>
          <a:prstGeom prst="rect">
            <a:avLst/>
          </a:prstGeom>
          <a:solidFill>
            <a:srgbClr val="00B4D8"/>
          </a:solidFill>
          <a:ln w="12700">
            <a:solidFill>
              <a:srgbClr val="00B4D8"/>
            </a:solidFill>
            <a:prstDash val="solid"/>
          </a:ln>
        </p:spPr>
        <p:txBody>
          <a:bodyPr/>
          <a:lstStyle/>
          <a:p>
            <a:endParaRPr lang="en-US"/>
          </a:p>
        </p:txBody>
      </p:sp>
      <p:sp>
        <p:nvSpPr>
          <p:cNvPr id="19" name="Text 16"/>
          <p:cNvSpPr/>
          <p:nvPr/>
        </p:nvSpPr>
        <p:spPr>
          <a:xfrm>
            <a:off x="8247888" y="2011680"/>
            <a:ext cx="3310128" cy="182880"/>
          </a:xfrm>
          <a:prstGeom prst="rect">
            <a:avLst/>
          </a:prstGeom>
          <a:noFill/>
          <a:ln/>
        </p:spPr>
        <p:txBody>
          <a:bodyPr wrap="square" lIns="0" tIns="0" rIns="0" bIns="0" rtlCol="0" anchor="ctr"/>
          <a:lstStyle/>
          <a:p>
            <a:pPr marL="0" indent="0">
              <a:buNone/>
            </a:pPr>
            <a:r>
              <a:rPr lang="en-US" sz="750" b="1" kern="0" spc="150" dirty="0">
                <a:solidFill>
                  <a:srgbClr val="00B4D8"/>
                </a:solidFill>
                <a:latin typeface="Calibri" pitchFamily="34" charset="0"/>
                <a:ea typeface="Calibri" pitchFamily="34" charset="-122"/>
                <a:cs typeface="Calibri" pitchFamily="34" charset="-120"/>
              </a:rPr>
              <a:t>KEY INSIGHT</a:t>
            </a:r>
            <a:endParaRPr lang="en-US" sz="750" dirty="0"/>
          </a:p>
        </p:txBody>
      </p:sp>
      <p:sp>
        <p:nvSpPr>
          <p:cNvPr id="20" name="Text 17"/>
          <p:cNvSpPr/>
          <p:nvPr/>
        </p:nvSpPr>
        <p:spPr>
          <a:xfrm>
            <a:off x="8247888" y="2176272"/>
            <a:ext cx="3310128" cy="1883664"/>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Cost per mile increased moderately by 0.22% as higher fuel prices pushed up expenses even as other costs stayed stable.</a:t>
            </a:r>
            <a:endParaRPr lang="en-US" sz="1000" dirty="0"/>
          </a:p>
        </p:txBody>
      </p:sp>
      <p:sp>
        <p:nvSpPr>
          <p:cNvPr id="21" name="Shape 18"/>
          <p:cNvSpPr/>
          <p:nvPr/>
        </p:nvSpPr>
        <p:spPr>
          <a:xfrm>
            <a:off x="8119872" y="4315968"/>
            <a:ext cx="3566160" cy="2231136"/>
          </a:xfrm>
          <a:prstGeom prst="rect">
            <a:avLst/>
          </a:prstGeom>
          <a:solidFill>
            <a:srgbClr val="132035"/>
          </a:solidFill>
          <a:ln w="6350">
            <a:solidFill>
              <a:srgbClr val="1A2B47"/>
            </a:solidFill>
            <a:prstDash val="solid"/>
          </a:ln>
        </p:spPr>
        <p:txBody>
          <a:bodyPr/>
          <a:lstStyle/>
          <a:p>
            <a:endParaRPr lang="en-US"/>
          </a:p>
        </p:txBody>
      </p:sp>
      <p:sp>
        <p:nvSpPr>
          <p:cNvPr id="22" name="Shape 19"/>
          <p:cNvSpPr/>
          <p:nvPr/>
        </p:nvSpPr>
        <p:spPr>
          <a:xfrm>
            <a:off x="8119872" y="4315968"/>
            <a:ext cx="3566160" cy="36576"/>
          </a:xfrm>
          <a:prstGeom prst="rect">
            <a:avLst/>
          </a:prstGeom>
          <a:solidFill>
            <a:srgbClr val="00B4D8"/>
          </a:solidFill>
          <a:ln w="12700">
            <a:solidFill>
              <a:srgbClr val="00B4D8"/>
            </a:solidFill>
            <a:prstDash val="solid"/>
          </a:ln>
        </p:spPr>
        <p:txBody>
          <a:bodyPr/>
          <a:lstStyle/>
          <a:p>
            <a:endParaRPr lang="en-US"/>
          </a:p>
        </p:txBody>
      </p:sp>
      <p:sp>
        <p:nvSpPr>
          <p:cNvPr id="23" name="Text 20"/>
          <p:cNvSpPr/>
          <p:nvPr/>
        </p:nvSpPr>
        <p:spPr>
          <a:xfrm>
            <a:off x="8247888" y="4425696"/>
            <a:ext cx="3310128" cy="182880"/>
          </a:xfrm>
          <a:prstGeom prst="rect">
            <a:avLst/>
          </a:prstGeom>
          <a:noFill/>
          <a:ln/>
        </p:spPr>
        <p:txBody>
          <a:bodyPr wrap="square" lIns="0" tIns="0" rIns="0" bIns="0" rtlCol="0" anchor="ctr"/>
          <a:lstStyle/>
          <a:p>
            <a:pPr marL="0" indent="0">
              <a:buNone/>
            </a:pPr>
            <a:r>
              <a:rPr lang="en-US" sz="750" b="1" kern="0" spc="150" dirty="0">
                <a:solidFill>
                  <a:srgbClr val="00B4D8"/>
                </a:solidFill>
                <a:latin typeface="Calibri" pitchFamily="34" charset="0"/>
                <a:ea typeface="Calibri" pitchFamily="34" charset="-122"/>
                <a:cs typeface="Calibri" pitchFamily="34" charset="-120"/>
              </a:rPr>
              <a:t>KEY INSIGHT</a:t>
            </a:r>
            <a:endParaRPr lang="en-US" sz="750" dirty="0"/>
          </a:p>
        </p:txBody>
      </p:sp>
      <p:sp>
        <p:nvSpPr>
          <p:cNvPr id="24" name="Text 21"/>
          <p:cNvSpPr/>
          <p:nvPr/>
        </p:nvSpPr>
        <p:spPr>
          <a:xfrm>
            <a:off x="8247888" y="4590288"/>
            <a:ext cx="3310128" cy="1883664"/>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Fuel now accounts for a growing proportion of total costs, justifying the need for continued fuel management initiatives.</a:t>
            </a:r>
            <a:endParaRPr lang="en-US" sz="1000" dirty="0"/>
          </a:p>
        </p:txBody>
      </p:sp>
      <p:sp>
        <p:nvSpPr>
          <p:cNvPr id="25" name="Shape 22"/>
          <p:cNvSpPr/>
          <p:nvPr/>
        </p:nvSpPr>
        <p:spPr>
          <a:xfrm>
            <a:off x="0" y="6638544"/>
            <a:ext cx="12188952" cy="219456"/>
          </a:xfrm>
          <a:prstGeom prst="rect">
            <a:avLst/>
          </a:prstGeom>
          <a:solidFill>
            <a:srgbClr val="050C18"/>
          </a:solidFill>
          <a:ln w="12700">
            <a:solidFill>
              <a:srgbClr val="050C18"/>
            </a:solidFill>
            <a:prstDash val="solid"/>
          </a:ln>
        </p:spPr>
        <p:txBody>
          <a:bodyPr/>
          <a:lstStyle/>
          <a:p>
            <a:endParaRPr lang="en-US"/>
          </a:p>
        </p:txBody>
      </p:sp>
      <p:sp>
        <p:nvSpPr>
          <p:cNvPr id="26" name="Text 23"/>
          <p:cNvSpPr/>
          <p:nvPr/>
        </p:nvSpPr>
        <p:spPr>
          <a:xfrm>
            <a:off x="502920" y="6638544"/>
            <a:ext cx="11183112" cy="219456"/>
          </a:xfrm>
          <a:prstGeom prst="rect">
            <a:avLst/>
          </a:prstGeom>
          <a:noFill/>
          <a:ln/>
        </p:spPr>
        <p:txBody>
          <a:bodyPr wrap="square" lIns="0" tIns="0" rIns="0" bIns="0" rtlCol="0" anchor="ctr"/>
          <a:lstStyle/>
          <a:p>
            <a:pPr marL="0" indent="0" algn="ctr">
              <a:buNone/>
            </a:pPr>
            <a:r>
              <a:rPr lang="en-US" sz="700" dirty="0">
                <a:solidFill>
                  <a:srgbClr val="4B5E78"/>
                </a:solidFill>
                <a:latin typeface="Calibri" pitchFamily="34" charset="0"/>
                <a:ea typeface="Calibri" pitchFamily="34" charset="-122"/>
                <a:cs typeface="Calibri" pitchFamily="34" charset="-120"/>
              </a:rPr>
              <a:t>May 2025  ·  Confidential  ·  Page 4</a:t>
            </a:r>
            <a:endParaRPr lang="en-US" sz="700" dirty="0"/>
          </a:p>
        </p:txBody>
      </p:sp>
      <p:graphicFrame>
        <p:nvGraphicFramePr>
          <p:cNvPr id="28" name="cost_breakdown_chart">
            <a:extLst>
              <a:ext uri="{FF2B5EF4-FFF2-40B4-BE49-F238E27FC236}">
                <a16:creationId xmlns:a16="http://schemas.microsoft.com/office/drawing/2014/main" id="{627A7A03-D15B-5346-D135-CD12A52C320F}"/>
              </a:ext>
            </a:extLst>
          </p:cNvPr>
          <p:cNvGraphicFramePr/>
          <p:nvPr>
            <p:extLst>
              <p:ext uri="{D42A27DB-BD31-4B8C-83A1-F6EECF244321}">
                <p14:modId xmlns:p14="http://schemas.microsoft.com/office/powerpoint/2010/main" val="1167755080"/>
              </p:ext>
            </p:extLst>
          </p:nvPr>
        </p:nvGraphicFramePr>
        <p:xfrm>
          <a:off x="667512" y="1938528"/>
          <a:ext cx="7046273" cy="453542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F1C"/>
        </a:solidFill>
        <a:effectLst/>
      </p:bgPr>
    </p:bg>
    <p:spTree>
      <p:nvGrpSpPr>
        <p:cNvPr id="1" name=""/>
        <p:cNvGrpSpPr/>
        <p:nvPr/>
      </p:nvGrpSpPr>
      <p:grpSpPr>
        <a:xfrm>
          <a:off x="0" y="0"/>
          <a:ext cx="0" cy="0"/>
          <a:chOff x="0" y="0"/>
          <a:chExt cx="0" cy="0"/>
        </a:xfrm>
      </p:grpSpPr>
      <p:sp>
        <p:nvSpPr>
          <p:cNvPr id="3" name="Text 0"/>
          <p:cNvSpPr/>
          <p:nvPr/>
        </p:nvSpPr>
        <p:spPr>
          <a:xfrm>
            <a:off x="502920" y="164592"/>
            <a:ext cx="11183112"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Operational Efficiency</a:t>
            </a:r>
            <a:endParaRPr lang="en-US" sz="2000" dirty="0"/>
          </a:p>
        </p:txBody>
      </p:sp>
      <p:sp>
        <p:nvSpPr>
          <p:cNvPr id="4" name="Shape 1"/>
          <p:cNvSpPr/>
          <p:nvPr/>
        </p:nvSpPr>
        <p:spPr>
          <a:xfrm>
            <a:off x="502920" y="640080"/>
            <a:ext cx="11183112" cy="22860"/>
          </a:xfrm>
          <a:prstGeom prst="rect">
            <a:avLst/>
          </a:prstGeom>
          <a:solidFill>
            <a:srgbClr val="00B4D8"/>
          </a:solidFill>
          <a:ln w="12700">
            <a:solidFill>
              <a:srgbClr val="00B4D8"/>
            </a:solidFill>
            <a:prstDash val="solid"/>
          </a:ln>
        </p:spPr>
        <p:txBody>
          <a:bodyPr/>
          <a:lstStyle/>
          <a:p>
            <a:endParaRPr lang="en-US"/>
          </a:p>
        </p:txBody>
      </p:sp>
      <p:sp>
        <p:nvSpPr>
          <p:cNvPr id="5" name="Shape 2"/>
          <p:cNvSpPr/>
          <p:nvPr/>
        </p:nvSpPr>
        <p:spPr>
          <a:xfrm>
            <a:off x="502920" y="777240"/>
            <a:ext cx="3581400" cy="1024128"/>
          </a:xfrm>
          <a:prstGeom prst="rect">
            <a:avLst/>
          </a:prstGeom>
          <a:solidFill>
            <a:srgbClr val="132035"/>
          </a:solidFill>
          <a:ln w="12700">
            <a:solidFill>
              <a:srgbClr val="00B4D8"/>
            </a:solidFill>
            <a:prstDash val="solid"/>
          </a:ln>
        </p:spPr>
        <p:txBody>
          <a:bodyPr/>
          <a:lstStyle/>
          <a:p>
            <a:endParaRPr lang="en-US"/>
          </a:p>
        </p:txBody>
      </p:sp>
      <p:sp>
        <p:nvSpPr>
          <p:cNvPr id="6" name="Shape 3"/>
          <p:cNvSpPr/>
          <p:nvPr/>
        </p:nvSpPr>
        <p:spPr>
          <a:xfrm>
            <a:off x="502920" y="777240"/>
            <a:ext cx="3581400" cy="36576"/>
          </a:xfrm>
          <a:prstGeom prst="rect">
            <a:avLst/>
          </a:prstGeom>
          <a:solidFill>
            <a:srgbClr val="00B4D8"/>
          </a:solidFill>
          <a:ln w="12700">
            <a:solidFill>
              <a:srgbClr val="00B4D8"/>
            </a:solidFill>
            <a:prstDash val="solid"/>
          </a:ln>
        </p:spPr>
        <p:txBody>
          <a:bodyPr/>
          <a:lstStyle/>
          <a:p>
            <a:endParaRPr lang="en-US"/>
          </a:p>
        </p:txBody>
      </p:sp>
      <p:sp>
        <p:nvSpPr>
          <p:cNvPr id="7" name="Text 4"/>
          <p:cNvSpPr/>
          <p:nvPr/>
        </p:nvSpPr>
        <p:spPr>
          <a:xfrm>
            <a:off x="667512" y="886968"/>
            <a:ext cx="3252216" cy="182880"/>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ON-TIME DELIVERY</a:t>
            </a:r>
            <a:endParaRPr lang="en-US" sz="750" dirty="0"/>
          </a:p>
        </p:txBody>
      </p:sp>
      <p:sp>
        <p:nvSpPr>
          <p:cNvPr id="8" name="Text 5"/>
          <p:cNvSpPr/>
          <p:nvPr/>
        </p:nvSpPr>
        <p:spPr>
          <a:xfrm>
            <a:off x="667512" y="1051560"/>
            <a:ext cx="3252216"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94.2%</a:t>
            </a:r>
            <a:endParaRPr lang="en-US" sz="2600" dirty="0"/>
          </a:p>
        </p:txBody>
      </p:sp>
      <p:sp>
        <p:nvSpPr>
          <p:cNvPr id="9" name="Text 6"/>
          <p:cNvSpPr/>
          <p:nvPr/>
        </p:nvSpPr>
        <p:spPr>
          <a:xfrm>
            <a:off x="667512" y="1545336"/>
            <a:ext cx="3252216" cy="182880"/>
          </a:xfrm>
          <a:prstGeom prst="rect">
            <a:avLst/>
          </a:prstGeom>
          <a:noFill/>
          <a:ln/>
        </p:spPr>
        <p:txBody>
          <a:bodyPr wrap="square" lIns="0" tIns="0" rIns="0" bIns="0" rtlCol="0" anchor="ctr"/>
          <a:lstStyle/>
          <a:p>
            <a:pPr marL="0" indent="0">
              <a:buNone/>
            </a:pPr>
            <a:r>
              <a:rPr lang="en-US" sz="900" dirty="0">
                <a:solidFill>
                  <a:srgbClr val="00B4D8"/>
                </a:solidFill>
                <a:latin typeface="Calibri" pitchFamily="34" charset="0"/>
                <a:ea typeface="Calibri" pitchFamily="34" charset="-122"/>
                <a:cs typeface="Calibri" pitchFamily="34" charset="-120"/>
              </a:rPr>
              <a:t>↑ 0.2pp</a:t>
            </a:r>
            <a:endParaRPr lang="en-US" sz="900" dirty="0"/>
          </a:p>
        </p:txBody>
      </p:sp>
      <p:sp>
        <p:nvSpPr>
          <p:cNvPr id="10" name="Shape 7"/>
          <p:cNvSpPr/>
          <p:nvPr/>
        </p:nvSpPr>
        <p:spPr>
          <a:xfrm>
            <a:off x="4303776" y="777240"/>
            <a:ext cx="3581400" cy="1024128"/>
          </a:xfrm>
          <a:prstGeom prst="rect">
            <a:avLst/>
          </a:prstGeom>
          <a:solidFill>
            <a:srgbClr val="132035"/>
          </a:solidFill>
          <a:ln w="12700">
            <a:solidFill>
              <a:srgbClr val="00B4D8"/>
            </a:solidFill>
            <a:prstDash val="solid"/>
          </a:ln>
        </p:spPr>
        <p:txBody>
          <a:bodyPr/>
          <a:lstStyle/>
          <a:p>
            <a:endParaRPr lang="en-US"/>
          </a:p>
        </p:txBody>
      </p:sp>
      <p:sp>
        <p:nvSpPr>
          <p:cNvPr id="11" name="Shape 8"/>
          <p:cNvSpPr/>
          <p:nvPr/>
        </p:nvSpPr>
        <p:spPr>
          <a:xfrm>
            <a:off x="4303776" y="777240"/>
            <a:ext cx="3581400" cy="36576"/>
          </a:xfrm>
          <a:prstGeom prst="rect">
            <a:avLst/>
          </a:prstGeom>
          <a:solidFill>
            <a:srgbClr val="00B4D8"/>
          </a:solidFill>
          <a:ln w="12700">
            <a:solidFill>
              <a:srgbClr val="00B4D8"/>
            </a:solidFill>
            <a:prstDash val="solid"/>
          </a:ln>
        </p:spPr>
        <p:txBody>
          <a:bodyPr/>
          <a:lstStyle/>
          <a:p>
            <a:endParaRPr lang="en-US"/>
          </a:p>
        </p:txBody>
      </p:sp>
      <p:sp>
        <p:nvSpPr>
          <p:cNvPr id="12" name="Text 9"/>
          <p:cNvSpPr/>
          <p:nvPr/>
        </p:nvSpPr>
        <p:spPr>
          <a:xfrm>
            <a:off x="4468368" y="886968"/>
            <a:ext cx="3252216" cy="182880"/>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UTILIZATION RATE</a:t>
            </a:r>
            <a:endParaRPr lang="en-US" sz="750" dirty="0"/>
          </a:p>
        </p:txBody>
      </p:sp>
      <p:sp>
        <p:nvSpPr>
          <p:cNvPr id="13" name="Text 10"/>
          <p:cNvSpPr/>
          <p:nvPr/>
        </p:nvSpPr>
        <p:spPr>
          <a:xfrm>
            <a:off x="4468368" y="1051560"/>
            <a:ext cx="3252216"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93.3%</a:t>
            </a:r>
            <a:endParaRPr lang="en-US" sz="2600" dirty="0"/>
          </a:p>
        </p:txBody>
      </p:sp>
      <p:sp>
        <p:nvSpPr>
          <p:cNvPr id="14" name="Text 11"/>
          <p:cNvSpPr/>
          <p:nvPr/>
        </p:nvSpPr>
        <p:spPr>
          <a:xfrm>
            <a:off x="4468368" y="1545336"/>
            <a:ext cx="3252216" cy="182880"/>
          </a:xfrm>
          <a:prstGeom prst="rect">
            <a:avLst/>
          </a:prstGeom>
          <a:noFill/>
          <a:ln/>
        </p:spPr>
        <p:txBody>
          <a:bodyPr wrap="square" lIns="0" tIns="0" rIns="0" bIns="0" rtlCol="0" anchor="ctr"/>
          <a:lstStyle/>
          <a:p>
            <a:pPr marL="0" indent="0">
              <a:buNone/>
            </a:pPr>
            <a:r>
              <a:rPr lang="en-US" sz="900" dirty="0">
                <a:solidFill>
                  <a:srgbClr val="00B4D8"/>
                </a:solidFill>
                <a:latin typeface="Calibri" pitchFamily="34" charset="0"/>
                <a:ea typeface="Calibri" pitchFamily="34" charset="-122"/>
                <a:cs typeface="Calibri" pitchFamily="34" charset="-120"/>
              </a:rPr>
              <a:t>↑ 0.1pp</a:t>
            </a:r>
            <a:endParaRPr lang="en-US" sz="900" dirty="0"/>
          </a:p>
        </p:txBody>
      </p:sp>
      <p:sp>
        <p:nvSpPr>
          <p:cNvPr id="15" name="Shape 12"/>
          <p:cNvSpPr/>
          <p:nvPr/>
        </p:nvSpPr>
        <p:spPr>
          <a:xfrm>
            <a:off x="8104632" y="777240"/>
            <a:ext cx="3581400" cy="1024128"/>
          </a:xfrm>
          <a:prstGeom prst="rect">
            <a:avLst/>
          </a:prstGeom>
          <a:solidFill>
            <a:srgbClr val="132035"/>
          </a:solidFill>
          <a:ln w="12700">
            <a:solidFill>
              <a:srgbClr val="00B4D8"/>
            </a:solidFill>
            <a:prstDash val="solid"/>
          </a:ln>
        </p:spPr>
        <p:txBody>
          <a:bodyPr/>
          <a:lstStyle/>
          <a:p>
            <a:endParaRPr lang="en-US"/>
          </a:p>
        </p:txBody>
      </p:sp>
      <p:sp>
        <p:nvSpPr>
          <p:cNvPr id="16" name="Shape 13"/>
          <p:cNvSpPr/>
          <p:nvPr/>
        </p:nvSpPr>
        <p:spPr>
          <a:xfrm>
            <a:off x="8104632" y="777240"/>
            <a:ext cx="3581400" cy="36576"/>
          </a:xfrm>
          <a:prstGeom prst="rect">
            <a:avLst/>
          </a:prstGeom>
          <a:solidFill>
            <a:srgbClr val="00B4D8"/>
          </a:solidFill>
          <a:ln w="12700">
            <a:solidFill>
              <a:srgbClr val="00B4D8"/>
            </a:solidFill>
            <a:prstDash val="solid"/>
          </a:ln>
        </p:spPr>
        <p:txBody>
          <a:bodyPr/>
          <a:lstStyle/>
          <a:p>
            <a:endParaRPr lang="en-US"/>
          </a:p>
        </p:txBody>
      </p:sp>
      <p:sp>
        <p:nvSpPr>
          <p:cNvPr id="17" name="Text 14"/>
          <p:cNvSpPr/>
          <p:nvPr/>
        </p:nvSpPr>
        <p:spPr>
          <a:xfrm>
            <a:off x="8269224" y="886968"/>
            <a:ext cx="3252216" cy="182880"/>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SLA COMPLIANCE</a:t>
            </a:r>
            <a:endParaRPr lang="en-US" sz="750" dirty="0"/>
          </a:p>
        </p:txBody>
      </p:sp>
      <p:sp>
        <p:nvSpPr>
          <p:cNvPr id="18" name="Text 15"/>
          <p:cNvSpPr/>
          <p:nvPr/>
        </p:nvSpPr>
        <p:spPr>
          <a:xfrm>
            <a:off x="8269224" y="1051560"/>
            <a:ext cx="3252216"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94.2%</a:t>
            </a:r>
            <a:endParaRPr lang="en-US" sz="2600" dirty="0"/>
          </a:p>
        </p:txBody>
      </p:sp>
      <p:sp>
        <p:nvSpPr>
          <p:cNvPr id="19" name="Text 16"/>
          <p:cNvSpPr/>
          <p:nvPr/>
        </p:nvSpPr>
        <p:spPr>
          <a:xfrm>
            <a:off x="8269224" y="1545336"/>
            <a:ext cx="3252216" cy="182880"/>
          </a:xfrm>
          <a:prstGeom prst="rect">
            <a:avLst/>
          </a:prstGeom>
          <a:noFill/>
          <a:ln/>
        </p:spPr>
        <p:txBody>
          <a:bodyPr wrap="square" lIns="0" tIns="0" rIns="0" bIns="0" rtlCol="0" anchor="ctr"/>
          <a:lstStyle/>
          <a:p>
            <a:pPr marL="0" indent="0">
              <a:buNone/>
            </a:pPr>
            <a:r>
              <a:rPr lang="en-US" sz="900" dirty="0">
                <a:solidFill>
                  <a:srgbClr val="00B4D8"/>
                </a:solidFill>
                <a:latin typeface="Calibri" pitchFamily="34" charset="0"/>
                <a:ea typeface="Calibri" pitchFamily="34" charset="-122"/>
                <a:cs typeface="Calibri" pitchFamily="34" charset="-120"/>
              </a:rPr>
              <a:t>↑ 0.2pp</a:t>
            </a:r>
            <a:endParaRPr lang="en-US" sz="900" dirty="0"/>
          </a:p>
        </p:txBody>
      </p:sp>
      <p:sp>
        <p:nvSpPr>
          <p:cNvPr id="20" name="Shape 17"/>
          <p:cNvSpPr/>
          <p:nvPr/>
        </p:nvSpPr>
        <p:spPr>
          <a:xfrm>
            <a:off x="502920" y="1965960"/>
            <a:ext cx="4389120" cy="4581144"/>
          </a:xfrm>
          <a:prstGeom prst="rect">
            <a:avLst/>
          </a:prstGeom>
          <a:solidFill>
            <a:srgbClr val="0D1E33"/>
          </a:solidFill>
          <a:ln w="12700">
            <a:solidFill>
              <a:srgbClr val="00B4D8"/>
            </a:solidFill>
            <a:prstDash val="dash"/>
          </a:ln>
        </p:spPr>
        <p:txBody>
          <a:bodyPr/>
          <a:lstStyle/>
          <a:p>
            <a:endParaRPr lang="en-US"/>
          </a:p>
        </p:txBody>
      </p:sp>
      <p:sp>
        <p:nvSpPr>
          <p:cNvPr id="21" name="Text 18"/>
          <p:cNvSpPr/>
          <p:nvPr/>
        </p:nvSpPr>
        <p:spPr>
          <a:xfrm>
            <a:off x="502920" y="4091940"/>
            <a:ext cx="4389120" cy="329184"/>
          </a:xfrm>
          <a:prstGeom prst="rect">
            <a:avLst/>
          </a:prstGeom>
          <a:noFill/>
          <a:ln/>
        </p:spPr>
        <p:txBody>
          <a:bodyPr wrap="square" lIns="0" tIns="0" rIns="0" bIns="0" rtlCol="0" anchor="ctr"/>
          <a:lstStyle/>
          <a:p>
            <a:pPr marL="0" indent="0" algn="ctr">
              <a:buNone/>
            </a:pPr>
            <a:r>
              <a:rPr lang="en-US" sz="900" i="1" dirty="0">
                <a:solidFill>
                  <a:srgbClr val="4B5E78"/>
                </a:solidFill>
                <a:latin typeface="Calibri" pitchFamily="34" charset="0"/>
                <a:ea typeface="Calibri" pitchFamily="34" charset="-122"/>
                <a:cs typeface="Calibri" pitchFamily="34" charset="-120"/>
              </a:rPr>
              <a:t>Efficiency Score</a:t>
            </a:r>
            <a:endParaRPr lang="en-US" sz="900" dirty="0"/>
          </a:p>
          <a:p>
            <a:pPr marL="0" indent="0" algn="ctr">
              <a:buNone/>
            </a:pPr>
            <a:r>
              <a:rPr lang="en-US" sz="900" i="1" dirty="0">
                <a:solidFill>
                  <a:srgbClr val="4B5E78"/>
                </a:solidFill>
                <a:latin typeface="Calibri" pitchFamily="34" charset="0"/>
                <a:ea typeface="Calibri" pitchFamily="34" charset="-122"/>
                <a:cs typeface="Calibri" pitchFamily="34" charset="-120"/>
              </a:rPr>
              <a:t>%</a:t>
            </a:r>
            <a:endParaRPr lang="en-US" sz="900" dirty="0"/>
          </a:p>
          <a:p>
            <a:pPr marL="0" indent="0" algn="ctr">
              <a:buNone/>
            </a:pPr>
            <a:r>
              <a:rPr lang="en-US" sz="900" i="1" dirty="0">
                <a:solidFill>
                  <a:srgbClr val="4B5E78"/>
                </a:solidFill>
                <a:latin typeface="Calibri" pitchFamily="34" charset="0"/>
                <a:ea typeface="Calibri" pitchFamily="34" charset="-122"/>
                <a:cs typeface="Calibri" pitchFamily="34" charset="-120"/>
              </a:rPr>
              <a:t>(Donut / Gauge — Insert programmatically)</a:t>
            </a:r>
            <a:endParaRPr lang="en-US" sz="900" dirty="0"/>
          </a:p>
        </p:txBody>
      </p:sp>
      <p:sp>
        <p:nvSpPr>
          <p:cNvPr id="22" name="Shape 19"/>
          <p:cNvSpPr/>
          <p:nvPr/>
        </p:nvSpPr>
        <p:spPr>
          <a:xfrm>
            <a:off x="5111496" y="1965960"/>
            <a:ext cx="6574536" cy="4581144"/>
          </a:xfrm>
          <a:prstGeom prst="rect">
            <a:avLst/>
          </a:prstGeom>
          <a:solidFill>
            <a:srgbClr val="132035"/>
          </a:solidFill>
          <a:ln w="6350">
            <a:solidFill>
              <a:srgbClr val="1A2B47"/>
            </a:solidFill>
            <a:prstDash val="solid"/>
          </a:ln>
        </p:spPr>
        <p:txBody>
          <a:bodyPr/>
          <a:lstStyle/>
          <a:p>
            <a:endParaRPr lang="en-US"/>
          </a:p>
        </p:txBody>
      </p:sp>
      <p:sp>
        <p:nvSpPr>
          <p:cNvPr id="23" name="Shape 20"/>
          <p:cNvSpPr/>
          <p:nvPr/>
        </p:nvSpPr>
        <p:spPr>
          <a:xfrm>
            <a:off x="5111496" y="1965960"/>
            <a:ext cx="6574536" cy="36576"/>
          </a:xfrm>
          <a:prstGeom prst="rect">
            <a:avLst/>
          </a:prstGeom>
          <a:solidFill>
            <a:srgbClr val="00B4D8"/>
          </a:solidFill>
          <a:ln w="12700">
            <a:solidFill>
              <a:srgbClr val="00B4D8"/>
            </a:solidFill>
            <a:prstDash val="solid"/>
          </a:ln>
        </p:spPr>
        <p:txBody>
          <a:bodyPr/>
          <a:lstStyle/>
          <a:p>
            <a:endParaRPr lang="en-US"/>
          </a:p>
        </p:txBody>
      </p:sp>
      <p:sp>
        <p:nvSpPr>
          <p:cNvPr id="24" name="Text 21"/>
          <p:cNvSpPr/>
          <p:nvPr/>
        </p:nvSpPr>
        <p:spPr>
          <a:xfrm>
            <a:off x="5239512" y="2075688"/>
            <a:ext cx="6318504" cy="182880"/>
          </a:xfrm>
          <a:prstGeom prst="rect">
            <a:avLst/>
          </a:prstGeom>
          <a:noFill/>
          <a:ln/>
        </p:spPr>
        <p:txBody>
          <a:bodyPr wrap="square" lIns="0" tIns="0" rIns="0" bIns="0" rtlCol="0" anchor="ctr"/>
          <a:lstStyle/>
          <a:p>
            <a:pPr marL="0" indent="0">
              <a:buNone/>
            </a:pPr>
            <a:r>
              <a:rPr lang="en-US" sz="750" b="1" kern="0" spc="150" dirty="0">
                <a:solidFill>
                  <a:srgbClr val="00B4D8"/>
                </a:solidFill>
                <a:latin typeface="Calibri" pitchFamily="34" charset="0"/>
                <a:ea typeface="Calibri" pitchFamily="34" charset="-122"/>
                <a:cs typeface="Calibri" pitchFamily="34" charset="-120"/>
              </a:rPr>
              <a:t>ANALYSIS</a:t>
            </a:r>
            <a:endParaRPr lang="en-US" sz="750" dirty="0"/>
          </a:p>
        </p:txBody>
      </p:sp>
      <p:sp>
        <p:nvSpPr>
          <p:cNvPr id="25" name="Text 22"/>
          <p:cNvSpPr/>
          <p:nvPr/>
        </p:nvSpPr>
        <p:spPr>
          <a:xfrm>
            <a:off x="5239512" y="2240280"/>
            <a:ext cx="6318504" cy="423367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Empty miles declined marginally to 6.68%, enhancing utilisation. Load efficiency showed improvement versus last month, driving margin gains.</a:t>
            </a:r>
            <a:endParaRPr lang="en-US" sz="1000" dirty="0"/>
          </a:p>
        </p:txBody>
      </p:sp>
      <p:sp>
        <p:nvSpPr>
          <p:cNvPr id="26" name="Shape 23"/>
          <p:cNvSpPr/>
          <p:nvPr/>
        </p:nvSpPr>
        <p:spPr>
          <a:xfrm>
            <a:off x="0" y="6638544"/>
            <a:ext cx="12188952" cy="219456"/>
          </a:xfrm>
          <a:prstGeom prst="rect">
            <a:avLst/>
          </a:prstGeom>
          <a:solidFill>
            <a:srgbClr val="050C18"/>
          </a:solidFill>
          <a:ln w="12700">
            <a:solidFill>
              <a:srgbClr val="050C18"/>
            </a:solidFill>
            <a:prstDash val="solid"/>
          </a:ln>
        </p:spPr>
        <p:txBody>
          <a:bodyPr/>
          <a:lstStyle/>
          <a:p>
            <a:endParaRPr lang="en-US"/>
          </a:p>
        </p:txBody>
      </p:sp>
      <p:sp>
        <p:nvSpPr>
          <p:cNvPr id="27" name="Text 24"/>
          <p:cNvSpPr/>
          <p:nvPr/>
        </p:nvSpPr>
        <p:spPr>
          <a:xfrm>
            <a:off x="502920" y="6638544"/>
            <a:ext cx="11183112" cy="219456"/>
          </a:xfrm>
          <a:prstGeom prst="rect">
            <a:avLst/>
          </a:prstGeom>
          <a:noFill/>
          <a:ln/>
        </p:spPr>
        <p:txBody>
          <a:bodyPr wrap="square" lIns="0" tIns="0" rIns="0" bIns="0" rtlCol="0" anchor="ctr"/>
          <a:lstStyle/>
          <a:p>
            <a:pPr marL="0" indent="0" algn="ctr">
              <a:buNone/>
            </a:pPr>
            <a:r>
              <a:rPr lang="en-US" sz="700" dirty="0">
                <a:solidFill>
                  <a:srgbClr val="4B5E78"/>
                </a:solidFill>
                <a:latin typeface="Calibri" pitchFamily="34" charset="0"/>
                <a:ea typeface="Calibri" pitchFamily="34" charset="-122"/>
                <a:cs typeface="Calibri" pitchFamily="34" charset="-120"/>
              </a:rPr>
              <a:t>May 2025  ·  Confidential  ·  Page 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F1C"/>
        </a:solidFill>
        <a:effectLst/>
      </p:bgPr>
    </p:bg>
    <p:spTree>
      <p:nvGrpSpPr>
        <p:cNvPr id="1" name=""/>
        <p:cNvGrpSpPr/>
        <p:nvPr/>
      </p:nvGrpSpPr>
      <p:grpSpPr>
        <a:xfrm>
          <a:off x="0" y="0"/>
          <a:ext cx="0" cy="0"/>
          <a:chOff x="0" y="0"/>
          <a:chExt cx="0" cy="0"/>
        </a:xfrm>
      </p:grpSpPr>
      <p:sp>
        <p:nvSpPr>
          <p:cNvPr id="3" name="Text 0"/>
          <p:cNvSpPr/>
          <p:nvPr/>
        </p:nvSpPr>
        <p:spPr>
          <a:xfrm>
            <a:off x="502920" y="164592"/>
            <a:ext cx="11183112"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Sector Performance</a:t>
            </a:r>
            <a:endParaRPr lang="en-US" sz="2000" dirty="0"/>
          </a:p>
        </p:txBody>
      </p:sp>
      <p:sp>
        <p:nvSpPr>
          <p:cNvPr id="4" name="Shape 1"/>
          <p:cNvSpPr/>
          <p:nvPr/>
        </p:nvSpPr>
        <p:spPr>
          <a:xfrm>
            <a:off x="502920" y="640080"/>
            <a:ext cx="11183112" cy="22860"/>
          </a:xfrm>
          <a:prstGeom prst="rect">
            <a:avLst/>
          </a:prstGeom>
          <a:solidFill>
            <a:srgbClr val="00B4D8"/>
          </a:solidFill>
          <a:ln w="12700">
            <a:solidFill>
              <a:srgbClr val="00B4D8"/>
            </a:solidFill>
            <a:prstDash val="solid"/>
          </a:ln>
        </p:spPr>
        <p:txBody>
          <a:bodyPr/>
          <a:lstStyle/>
          <a:p>
            <a:endParaRPr lang="en-US"/>
          </a:p>
        </p:txBody>
      </p:sp>
      <p:sp>
        <p:nvSpPr>
          <p:cNvPr id="5" name="Shape 2"/>
          <p:cNvSpPr/>
          <p:nvPr/>
        </p:nvSpPr>
        <p:spPr>
          <a:xfrm>
            <a:off x="8074152" y="146304"/>
            <a:ext cx="3611880" cy="365760"/>
          </a:xfrm>
          <a:prstGeom prst="rect">
            <a:avLst/>
          </a:prstGeom>
          <a:solidFill>
            <a:srgbClr val="162A15"/>
          </a:solidFill>
          <a:ln w="9525">
            <a:solidFill>
              <a:srgbClr val="22C55E"/>
            </a:solidFill>
            <a:prstDash val="solid"/>
          </a:ln>
        </p:spPr>
        <p:txBody>
          <a:bodyPr/>
          <a:lstStyle/>
          <a:p>
            <a:endParaRPr lang="en-US"/>
          </a:p>
        </p:txBody>
      </p:sp>
      <p:sp>
        <p:nvSpPr>
          <p:cNvPr id="6" name="Text 3"/>
          <p:cNvSpPr/>
          <p:nvPr/>
        </p:nvSpPr>
        <p:spPr>
          <a:xfrm>
            <a:off x="8074152" y="146304"/>
            <a:ext cx="3611880" cy="365760"/>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Top Performer  </a:t>
            </a:r>
            <a:r>
              <a:rPr lang="en-US" sz="800" b="1" dirty="0">
                <a:solidFill>
                  <a:srgbClr val="22C55E"/>
                </a:solidFill>
                <a:latin typeface="Calibri" pitchFamily="34" charset="0"/>
                <a:ea typeface="Calibri" pitchFamily="34" charset="-122"/>
                <a:cs typeface="Calibri" pitchFamily="34" charset="-120"/>
              </a:rPr>
              <a:t>South  ↑ ↑ 1.0%</a:t>
            </a:r>
            <a:endParaRPr lang="en-US" sz="800" dirty="0"/>
          </a:p>
        </p:txBody>
      </p:sp>
      <p:sp>
        <p:nvSpPr>
          <p:cNvPr id="7" name="Shape 4"/>
          <p:cNvSpPr/>
          <p:nvPr/>
        </p:nvSpPr>
        <p:spPr>
          <a:xfrm>
            <a:off x="502920" y="777240"/>
            <a:ext cx="5303520" cy="5769864"/>
          </a:xfrm>
          <a:prstGeom prst="rect">
            <a:avLst/>
          </a:prstGeom>
          <a:solidFill>
            <a:srgbClr val="0D1E33"/>
          </a:solidFill>
          <a:ln w="12700">
            <a:solidFill>
              <a:srgbClr val="00B4D8"/>
            </a:solidFill>
            <a:prstDash val="dash"/>
          </a:ln>
        </p:spPr>
        <p:txBody>
          <a:bodyPr/>
          <a:lstStyle/>
          <a:p>
            <a:endParaRPr lang="en-US"/>
          </a:p>
        </p:txBody>
      </p:sp>
      <p:sp>
        <p:nvSpPr>
          <p:cNvPr id="9" name="Shape 6"/>
          <p:cNvSpPr/>
          <p:nvPr/>
        </p:nvSpPr>
        <p:spPr>
          <a:xfrm>
            <a:off x="6062472" y="777240"/>
            <a:ext cx="5623560" cy="347472"/>
          </a:xfrm>
          <a:prstGeom prst="rect">
            <a:avLst/>
          </a:prstGeom>
          <a:solidFill>
            <a:srgbClr val="00B4D8"/>
          </a:solidFill>
          <a:ln w="12700">
            <a:solidFill>
              <a:srgbClr val="00B4D8"/>
            </a:solidFill>
            <a:prstDash val="solid"/>
          </a:ln>
        </p:spPr>
        <p:txBody>
          <a:bodyPr/>
          <a:lstStyle/>
          <a:p>
            <a:endParaRPr lang="en-US"/>
          </a:p>
        </p:txBody>
      </p:sp>
      <p:sp>
        <p:nvSpPr>
          <p:cNvPr id="10" name="Text 7"/>
          <p:cNvSpPr/>
          <p:nvPr/>
        </p:nvSpPr>
        <p:spPr>
          <a:xfrm>
            <a:off x="6153912" y="859536"/>
            <a:ext cx="2024482" cy="201168"/>
          </a:xfrm>
          <a:prstGeom prst="rect">
            <a:avLst/>
          </a:prstGeom>
          <a:noFill/>
          <a:ln/>
        </p:spPr>
        <p:txBody>
          <a:bodyPr wrap="square" lIns="0" tIns="0" rIns="0" bIns="0" rtlCol="0" anchor="ctr"/>
          <a:lstStyle/>
          <a:p>
            <a:pPr marL="0" indent="0">
              <a:buNone/>
            </a:pPr>
            <a:r>
              <a:rPr lang="en-US" sz="750" b="1" kern="0" spc="100" dirty="0">
                <a:solidFill>
                  <a:srgbClr val="080F1C"/>
                </a:solidFill>
                <a:latin typeface="Calibri" pitchFamily="34" charset="0"/>
                <a:ea typeface="Calibri" pitchFamily="34" charset="-122"/>
                <a:cs typeface="Calibri" pitchFamily="34" charset="-120"/>
              </a:rPr>
              <a:t>SECTOR</a:t>
            </a:r>
            <a:endParaRPr lang="en-US" sz="750" dirty="0"/>
          </a:p>
        </p:txBody>
      </p:sp>
      <p:sp>
        <p:nvSpPr>
          <p:cNvPr id="11" name="Text 8"/>
          <p:cNvSpPr/>
          <p:nvPr/>
        </p:nvSpPr>
        <p:spPr>
          <a:xfrm>
            <a:off x="8178394" y="859536"/>
            <a:ext cx="1349654" cy="201168"/>
          </a:xfrm>
          <a:prstGeom prst="rect">
            <a:avLst/>
          </a:prstGeom>
          <a:noFill/>
          <a:ln/>
        </p:spPr>
        <p:txBody>
          <a:bodyPr wrap="square" lIns="0" tIns="0" rIns="0" bIns="0" rtlCol="0" anchor="ctr"/>
          <a:lstStyle/>
          <a:p>
            <a:pPr marL="0" indent="0">
              <a:buNone/>
            </a:pPr>
            <a:r>
              <a:rPr lang="en-US" sz="750" b="1" kern="0" spc="100" dirty="0">
                <a:solidFill>
                  <a:srgbClr val="080F1C"/>
                </a:solidFill>
                <a:latin typeface="Calibri" pitchFamily="34" charset="0"/>
                <a:ea typeface="Calibri" pitchFamily="34" charset="-122"/>
                <a:cs typeface="Calibri" pitchFamily="34" charset="-120"/>
              </a:rPr>
              <a:t>REVENUE</a:t>
            </a:r>
            <a:endParaRPr lang="en-US" sz="750" dirty="0"/>
          </a:p>
        </p:txBody>
      </p:sp>
      <p:sp>
        <p:nvSpPr>
          <p:cNvPr id="12" name="Text 9"/>
          <p:cNvSpPr/>
          <p:nvPr/>
        </p:nvSpPr>
        <p:spPr>
          <a:xfrm>
            <a:off x="9528048" y="859536"/>
            <a:ext cx="1237183" cy="201168"/>
          </a:xfrm>
          <a:prstGeom prst="rect">
            <a:avLst/>
          </a:prstGeom>
          <a:noFill/>
          <a:ln/>
        </p:spPr>
        <p:txBody>
          <a:bodyPr wrap="square" lIns="0" tIns="0" rIns="0" bIns="0" rtlCol="0" anchor="ctr"/>
          <a:lstStyle/>
          <a:p>
            <a:pPr marL="0" indent="0">
              <a:buNone/>
            </a:pPr>
            <a:r>
              <a:rPr lang="en-US" sz="750" b="1" kern="0" spc="100" dirty="0">
                <a:solidFill>
                  <a:srgbClr val="080F1C"/>
                </a:solidFill>
                <a:latin typeface="Calibri" pitchFamily="34" charset="0"/>
                <a:ea typeface="Calibri" pitchFamily="34" charset="-122"/>
                <a:cs typeface="Calibri" pitchFamily="34" charset="-120"/>
              </a:rPr>
              <a:t>GROWTH</a:t>
            </a:r>
            <a:endParaRPr lang="en-US" sz="750" dirty="0"/>
          </a:p>
        </p:txBody>
      </p:sp>
      <p:sp>
        <p:nvSpPr>
          <p:cNvPr id="13" name="Text 10"/>
          <p:cNvSpPr/>
          <p:nvPr/>
        </p:nvSpPr>
        <p:spPr>
          <a:xfrm>
            <a:off x="10765231" y="859536"/>
            <a:ext cx="1012241" cy="201168"/>
          </a:xfrm>
          <a:prstGeom prst="rect">
            <a:avLst/>
          </a:prstGeom>
          <a:noFill/>
          <a:ln/>
        </p:spPr>
        <p:txBody>
          <a:bodyPr wrap="square" lIns="0" tIns="0" rIns="0" bIns="0" rtlCol="0" anchor="ctr"/>
          <a:lstStyle/>
          <a:p>
            <a:pPr marL="0" indent="0">
              <a:buNone/>
            </a:pPr>
            <a:r>
              <a:rPr lang="en-US" sz="750" b="1" kern="0" spc="100" dirty="0">
                <a:solidFill>
                  <a:srgbClr val="080F1C"/>
                </a:solidFill>
                <a:latin typeface="Calibri" pitchFamily="34" charset="0"/>
                <a:ea typeface="Calibri" pitchFamily="34" charset="-122"/>
                <a:cs typeface="Calibri" pitchFamily="34" charset="-120"/>
              </a:rPr>
              <a:t>MARGIN</a:t>
            </a:r>
            <a:endParaRPr lang="en-US" sz="750" dirty="0"/>
          </a:p>
        </p:txBody>
      </p:sp>
      <p:sp>
        <p:nvSpPr>
          <p:cNvPr id="14" name="Shape 11"/>
          <p:cNvSpPr/>
          <p:nvPr/>
        </p:nvSpPr>
        <p:spPr>
          <a:xfrm>
            <a:off x="6062472" y="1124712"/>
            <a:ext cx="5623560" cy="1355598"/>
          </a:xfrm>
          <a:prstGeom prst="rect">
            <a:avLst/>
          </a:prstGeom>
          <a:solidFill>
            <a:srgbClr val="132035"/>
          </a:solidFill>
          <a:ln w="6350">
            <a:solidFill>
              <a:srgbClr val="4B5E78"/>
            </a:solidFill>
            <a:prstDash val="solid"/>
          </a:ln>
        </p:spPr>
        <p:txBody>
          <a:bodyPr/>
          <a:lstStyle/>
          <a:p>
            <a:endParaRPr lang="en-US"/>
          </a:p>
        </p:txBody>
      </p:sp>
      <p:sp>
        <p:nvSpPr>
          <p:cNvPr id="15" name="Text 12"/>
          <p:cNvSpPr/>
          <p:nvPr/>
        </p:nvSpPr>
        <p:spPr>
          <a:xfrm>
            <a:off x="6153912" y="1674495"/>
            <a:ext cx="2024482"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South</a:t>
            </a:r>
            <a:endParaRPr lang="en-US" sz="1000" dirty="0"/>
          </a:p>
        </p:txBody>
      </p:sp>
      <p:sp>
        <p:nvSpPr>
          <p:cNvPr id="16" name="Text 13"/>
          <p:cNvSpPr/>
          <p:nvPr/>
        </p:nvSpPr>
        <p:spPr>
          <a:xfrm>
            <a:off x="8178394" y="1674495"/>
            <a:ext cx="1349654"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$12.44M</a:t>
            </a:r>
            <a:endParaRPr lang="en-US" sz="1000" dirty="0"/>
          </a:p>
        </p:txBody>
      </p:sp>
      <p:sp>
        <p:nvSpPr>
          <p:cNvPr id="17" name="Text 14"/>
          <p:cNvSpPr/>
          <p:nvPr/>
        </p:nvSpPr>
        <p:spPr>
          <a:xfrm>
            <a:off x="9528048" y="1674495"/>
            <a:ext cx="1237183" cy="256032"/>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 1.0%</a:t>
            </a:r>
            <a:endParaRPr lang="en-US" sz="1000" dirty="0"/>
          </a:p>
        </p:txBody>
      </p:sp>
      <p:sp>
        <p:nvSpPr>
          <p:cNvPr id="18" name="Text 15"/>
          <p:cNvSpPr/>
          <p:nvPr/>
        </p:nvSpPr>
        <p:spPr>
          <a:xfrm>
            <a:off x="10765231" y="1674495"/>
            <a:ext cx="1012241"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8.5%</a:t>
            </a:r>
            <a:endParaRPr lang="en-US" sz="1000" dirty="0"/>
          </a:p>
        </p:txBody>
      </p:sp>
      <p:sp>
        <p:nvSpPr>
          <p:cNvPr id="19" name="Shape 16"/>
          <p:cNvSpPr/>
          <p:nvPr/>
        </p:nvSpPr>
        <p:spPr>
          <a:xfrm>
            <a:off x="6062472" y="2480310"/>
            <a:ext cx="5623560" cy="1355598"/>
          </a:xfrm>
          <a:prstGeom prst="rect">
            <a:avLst/>
          </a:prstGeom>
          <a:solidFill>
            <a:srgbClr val="0D1828"/>
          </a:solidFill>
          <a:ln w="6350">
            <a:solidFill>
              <a:srgbClr val="4B5E78"/>
            </a:solidFill>
            <a:prstDash val="solid"/>
          </a:ln>
        </p:spPr>
        <p:txBody>
          <a:bodyPr/>
          <a:lstStyle/>
          <a:p>
            <a:endParaRPr lang="en-US"/>
          </a:p>
        </p:txBody>
      </p:sp>
      <p:sp>
        <p:nvSpPr>
          <p:cNvPr id="20" name="Text 17"/>
          <p:cNvSpPr/>
          <p:nvPr/>
        </p:nvSpPr>
        <p:spPr>
          <a:xfrm>
            <a:off x="6153912" y="3030093"/>
            <a:ext cx="2024482"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a:r>
            <a:endParaRPr lang="en-US" sz="1000" dirty="0"/>
          </a:p>
        </p:txBody>
      </p:sp>
      <p:sp>
        <p:nvSpPr>
          <p:cNvPr id="21" name="Text 18"/>
          <p:cNvSpPr/>
          <p:nvPr/>
        </p:nvSpPr>
        <p:spPr>
          <a:xfrm>
            <a:off x="8178394" y="3030093"/>
            <a:ext cx="1349654"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a:r>
            <a:endParaRPr lang="en-US" sz="1000" dirty="0"/>
          </a:p>
        </p:txBody>
      </p:sp>
      <p:sp>
        <p:nvSpPr>
          <p:cNvPr id="22" name="Text 19"/>
          <p:cNvSpPr/>
          <p:nvPr/>
        </p:nvSpPr>
        <p:spPr>
          <a:xfrm>
            <a:off x="9528048" y="3030093"/>
            <a:ext cx="1237183" cy="256032"/>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
            </a:r>
            <a:endParaRPr lang="en-US" sz="1000" dirty="0"/>
          </a:p>
        </p:txBody>
      </p:sp>
      <p:sp>
        <p:nvSpPr>
          <p:cNvPr id="23" name="Text 20"/>
          <p:cNvSpPr/>
          <p:nvPr/>
        </p:nvSpPr>
        <p:spPr>
          <a:xfrm>
            <a:off x="10765231" y="3030093"/>
            <a:ext cx="1012241"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a:r>
            <a:endParaRPr lang="en-US" sz="1000" dirty="0"/>
          </a:p>
        </p:txBody>
      </p:sp>
      <p:sp>
        <p:nvSpPr>
          <p:cNvPr id="24" name="Shape 21"/>
          <p:cNvSpPr/>
          <p:nvPr/>
        </p:nvSpPr>
        <p:spPr>
          <a:xfrm>
            <a:off x="6062472" y="3835908"/>
            <a:ext cx="5623560" cy="1355598"/>
          </a:xfrm>
          <a:prstGeom prst="rect">
            <a:avLst/>
          </a:prstGeom>
          <a:solidFill>
            <a:srgbClr val="132035"/>
          </a:solidFill>
          <a:ln w="6350">
            <a:solidFill>
              <a:srgbClr val="4B5E78"/>
            </a:solidFill>
            <a:prstDash val="solid"/>
          </a:ln>
        </p:spPr>
        <p:txBody>
          <a:bodyPr/>
          <a:lstStyle/>
          <a:p>
            <a:endParaRPr lang="en-US"/>
          </a:p>
        </p:txBody>
      </p:sp>
      <p:sp>
        <p:nvSpPr>
          <p:cNvPr id="25" name="Text 22"/>
          <p:cNvSpPr/>
          <p:nvPr/>
        </p:nvSpPr>
        <p:spPr>
          <a:xfrm>
            <a:off x="6153912" y="4385691"/>
            <a:ext cx="2024482"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a:r>
            <a:endParaRPr lang="en-US" sz="1000" dirty="0"/>
          </a:p>
        </p:txBody>
      </p:sp>
      <p:sp>
        <p:nvSpPr>
          <p:cNvPr id="26" name="Text 23"/>
          <p:cNvSpPr/>
          <p:nvPr/>
        </p:nvSpPr>
        <p:spPr>
          <a:xfrm>
            <a:off x="8178394" y="4385691"/>
            <a:ext cx="1349654"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a:r>
            <a:endParaRPr lang="en-US" sz="1000" dirty="0"/>
          </a:p>
        </p:txBody>
      </p:sp>
      <p:sp>
        <p:nvSpPr>
          <p:cNvPr id="27" name="Text 24"/>
          <p:cNvSpPr/>
          <p:nvPr/>
        </p:nvSpPr>
        <p:spPr>
          <a:xfrm>
            <a:off x="9528048" y="4385691"/>
            <a:ext cx="1237183" cy="256032"/>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
            </a:r>
            <a:endParaRPr lang="en-US" sz="1000" dirty="0"/>
          </a:p>
        </p:txBody>
      </p:sp>
      <p:sp>
        <p:nvSpPr>
          <p:cNvPr id="28" name="Text 25"/>
          <p:cNvSpPr/>
          <p:nvPr/>
        </p:nvSpPr>
        <p:spPr>
          <a:xfrm>
            <a:off x="10765231" y="4385691"/>
            <a:ext cx="1012241"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a:r>
            <a:endParaRPr lang="en-US" sz="1000" dirty="0"/>
          </a:p>
        </p:txBody>
      </p:sp>
      <p:sp>
        <p:nvSpPr>
          <p:cNvPr id="29" name="Shape 26"/>
          <p:cNvSpPr/>
          <p:nvPr/>
        </p:nvSpPr>
        <p:spPr>
          <a:xfrm>
            <a:off x="6062472" y="5191506"/>
            <a:ext cx="5623560" cy="1355598"/>
          </a:xfrm>
          <a:prstGeom prst="rect">
            <a:avLst/>
          </a:prstGeom>
          <a:solidFill>
            <a:srgbClr val="0D1828"/>
          </a:solidFill>
          <a:ln w="6350">
            <a:solidFill>
              <a:srgbClr val="4B5E78"/>
            </a:solidFill>
            <a:prstDash val="solid"/>
          </a:ln>
        </p:spPr>
        <p:txBody>
          <a:bodyPr/>
          <a:lstStyle/>
          <a:p>
            <a:endParaRPr lang="en-US"/>
          </a:p>
        </p:txBody>
      </p:sp>
      <p:sp>
        <p:nvSpPr>
          <p:cNvPr id="30" name="Text 27"/>
          <p:cNvSpPr/>
          <p:nvPr/>
        </p:nvSpPr>
        <p:spPr>
          <a:xfrm>
            <a:off x="6153912" y="5741289"/>
            <a:ext cx="2024482"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a:r>
            <a:endParaRPr lang="en-US" sz="1000" dirty="0"/>
          </a:p>
        </p:txBody>
      </p:sp>
      <p:sp>
        <p:nvSpPr>
          <p:cNvPr id="31" name="Text 28"/>
          <p:cNvSpPr/>
          <p:nvPr/>
        </p:nvSpPr>
        <p:spPr>
          <a:xfrm>
            <a:off x="8178394" y="5741289"/>
            <a:ext cx="1349654"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a:r>
            <a:endParaRPr lang="en-US" sz="1000" dirty="0"/>
          </a:p>
        </p:txBody>
      </p:sp>
      <p:sp>
        <p:nvSpPr>
          <p:cNvPr id="32" name="Text 29"/>
          <p:cNvSpPr/>
          <p:nvPr/>
        </p:nvSpPr>
        <p:spPr>
          <a:xfrm>
            <a:off x="9528048" y="5741289"/>
            <a:ext cx="1237183" cy="256032"/>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
            </a:r>
            <a:endParaRPr lang="en-US" sz="1000" dirty="0"/>
          </a:p>
        </p:txBody>
      </p:sp>
      <p:sp>
        <p:nvSpPr>
          <p:cNvPr id="33" name="Text 30"/>
          <p:cNvSpPr/>
          <p:nvPr/>
        </p:nvSpPr>
        <p:spPr>
          <a:xfrm>
            <a:off x="10765231" y="5741289"/>
            <a:ext cx="1012241"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a:r>
            <a:endParaRPr lang="en-US" sz="1000" dirty="0"/>
          </a:p>
        </p:txBody>
      </p:sp>
      <p:sp>
        <p:nvSpPr>
          <p:cNvPr id="34" name="Shape 31"/>
          <p:cNvSpPr/>
          <p:nvPr/>
        </p:nvSpPr>
        <p:spPr>
          <a:xfrm>
            <a:off x="0" y="6638544"/>
            <a:ext cx="12188952" cy="219456"/>
          </a:xfrm>
          <a:prstGeom prst="rect">
            <a:avLst/>
          </a:prstGeom>
          <a:solidFill>
            <a:srgbClr val="050C18"/>
          </a:solidFill>
          <a:ln w="12700">
            <a:solidFill>
              <a:srgbClr val="050C18"/>
            </a:solidFill>
            <a:prstDash val="solid"/>
          </a:ln>
        </p:spPr>
        <p:txBody>
          <a:bodyPr/>
          <a:lstStyle/>
          <a:p>
            <a:endParaRPr lang="en-US"/>
          </a:p>
        </p:txBody>
      </p:sp>
      <p:sp>
        <p:nvSpPr>
          <p:cNvPr id="35" name="Text 32"/>
          <p:cNvSpPr/>
          <p:nvPr/>
        </p:nvSpPr>
        <p:spPr>
          <a:xfrm>
            <a:off x="502920" y="6638544"/>
            <a:ext cx="11183112" cy="219456"/>
          </a:xfrm>
          <a:prstGeom prst="rect">
            <a:avLst/>
          </a:prstGeom>
          <a:noFill/>
          <a:ln/>
        </p:spPr>
        <p:txBody>
          <a:bodyPr wrap="square" lIns="0" tIns="0" rIns="0" bIns="0" rtlCol="0" anchor="ctr"/>
          <a:lstStyle/>
          <a:p>
            <a:pPr marL="0" indent="0" algn="ctr">
              <a:buNone/>
            </a:pPr>
            <a:r>
              <a:rPr lang="en-US" sz="700" dirty="0">
                <a:solidFill>
                  <a:srgbClr val="4B5E78"/>
                </a:solidFill>
                <a:latin typeface="Calibri" pitchFamily="34" charset="0"/>
                <a:ea typeface="Calibri" pitchFamily="34" charset="-122"/>
                <a:cs typeface="Calibri" pitchFamily="34" charset="-120"/>
              </a:rPr>
              <a:t>May 2025  ·  Confidential  ·  Page 6</a:t>
            </a:r>
            <a:endParaRPr lang="en-US" sz="700" dirty="0"/>
          </a:p>
        </p:txBody>
      </p:sp>
      <p:graphicFrame>
        <p:nvGraphicFramePr>
          <p:cNvPr id="37" name="sector_revenue_chart">
            <a:extLst>
              <a:ext uri="{FF2B5EF4-FFF2-40B4-BE49-F238E27FC236}">
                <a16:creationId xmlns:a16="http://schemas.microsoft.com/office/drawing/2014/main" id="{C408F873-D7B2-C8DB-B028-9F6F9921EBAE}"/>
              </a:ext>
            </a:extLst>
          </p:cNvPr>
          <p:cNvGraphicFramePr/>
          <p:nvPr>
            <p:extLst>
              <p:ext uri="{D42A27DB-BD31-4B8C-83A1-F6EECF244321}">
                <p14:modId xmlns:p14="http://schemas.microsoft.com/office/powerpoint/2010/main" val="3302382428"/>
              </p:ext>
            </p:extLst>
          </p:nvPr>
        </p:nvGraphicFramePr>
        <p:xfrm>
          <a:off x="502920" y="719666"/>
          <a:ext cx="5303520" cy="582743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F1C"/>
        </a:solidFill>
        <a:effectLst/>
      </p:bgPr>
    </p:bg>
    <p:spTree>
      <p:nvGrpSpPr>
        <p:cNvPr id="1" name=""/>
        <p:cNvGrpSpPr/>
        <p:nvPr/>
      </p:nvGrpSpPr>
      <p:grpSpPr>
        <a:xfrm>
          <a:off x="0" y="0"/>
          <a:ext cx="0" cy="0"/>
          <a:chOff x="0" y="0"/>
          <a:chExt cx="0" cy="0"/>
        </a:xfrm>
      </p:grpSpPr>
      <p:sp>
        <p:nvSpPr>
          <p:cNvPr id="3" name="Text 0"/>
          <p:cNvSpPr/>
          <p:nvPr/>
        </p:nvSpPr>
        <p:spPr>
          <a:xfrm>
            <a:off x="502920" y="164592"/>
            <a:ext cx="11183112"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Key Drivers &amp; Bottom Line</a:t>
            </a:r>
            <a:endParaRPr lang="en-US" sz="2000" dirty="0"/>
          </a:p>
        </p:txBody>
      </p:sp>
      <p:sp>
        <p:nvSpPr>
          <p:cNvPr id="4" name="Shape 1"/>
          <p:cNvSpPr/>
          <p:nvPr/>
        </p:nvSpPr>
        <p:spPr>
          <a:xfrm>
            <a:off x="502920" y="640080"/>
            <a:ext cx="11183112" cy="22860"/>
          </a:xfrm>
          <a:prstGeom prst="rect">
            <a:avLst/>
          </a:prstGeom>
          <a:solidFill>
            <a:srgbClr val="00B4D8"/>
          </a:solidFill>
          <a:ln w="12700">
            <a:solidFill>
              <a:srgbClr val="00B4D8"/>
            </a:solidFill>
            <a:prstDash val="solid"/>
          </a:ln>
        </p:spPr>
        <p:txBody>
          <a:bodyPr/>
          <a:lstStyle/>
          <a:p>
            <a:endParaRPr lang="en-US"/>
          </a:p>
        </p:txBody>
      </p:sp>
      <p:sp>
        <p:nvSpPr>
          <p:cNvPr id="5" name="Shape 2"/>
          <p:cNvSpPr/>
          <p:nvPr/>
        </p:nvSpPr>
        <p:spPr>
          <a:xfrm>
            <a:off x="502920" y="777240"/>
            <a:ext cx="4799868" cy="5047488"/>
          </a:xfrm>
          <a:prstGeom prst="rect">
            <a:avLst/>
          </a:prstGeom>
          <a:solidFill>
            <a:srgbClr val="132035"/>
          </a:solidFill>
          <a:ln w="6350">
            <a:solidFill>
              <a:srgbClr val="1A2B47"/>
            </a:solidFill>
            <a:prstDash val="solid"/>
          </a:ln>
        </p:spPr>
        <p:txBody>
          <a:bodyPr/>
          <a:lstStyle/>
          <a:p>
            <a:endParaRPr lang="en-US"/>
          </a:p>
        </p:txBody>
      </p:sp>
      <p:sp>
        <p:nvSpPr>
          <p:cNvPr id="6" name="Shape 3"/>
          <p:cNvSpPr/>
          <p:nvPr/>
        </p:nvSpPr>
        <p:spPr>
          <a:xfrm>
            <a:off x="502920" y="777240"/>
            <a:ext cx="4799868" cy="36576"/>
          </a:xfrm>
          <a:prstGeom prst="rect">
            <a:avLst/>
          </a:prstGeom>
          <a:solidFill>
            <a:srgbClr val="00B4D8"/>
          </a:solidFill>
          <a:ln w="12700">
            <a:solidFill>
              <a:srgbClr val="00B4D8"/>
            </a:solidFill>
            <a:prstDash val="solid"/>
          </a:ln>
        </p:spPr>
        <p:txBody>
          <a:bodyPr/>
          <a:lstStyle/>
          <a:p>
            <a:endParaRPr lang="en-US"/>
          </a:p>
        </p:txBody>
      </p:sp>
      <p:sp>
        <p:nvSpPr>
          <p:cNvPr id="7" name="Text 4"/>
          <p:cNvSpPr/>
          <p:nvPr/>
        </p:nvSpPr>
        <p:spPr>
          <a:xfrm>
            <a:off x="685800" y="905256"/>
            <a:ext cx="4434108" cy="219456"/>
          </a:xfrm>
          <a:prstGeom prst="rect">
            <a:avLst/>
          </a:prstGeom>
          <a:noFill/>
          <a:ln/>
        </p:spPr>
        <p:txBody>
          <a:bodyPr wrap="square" lIns="0" tIns="0" rIns="0" bIns="0" rtlCol="0" anchor="ctr"/>
          <a:lstStyle/>
          <a:p>
            <a:pPr marL="0" indent="0">
              <a:buNone/>
            </a:pPr>
            <a:r>
              <a:rPr lang="en-US" sz="1400" b="1" kern="0" spc="200" dirty="0">
                <a:solidFill>
                  <a:srgbClr val="00B4D8"/>
                </a:solidFill>
                <a:latin typeface="Calibri" pitchFamily="34" charset="0"/>
                <a:ea typeface="Calibri" pitchFamily="34" charset="-122"/>
                <a:cs typeface="Calibri" pitchFamily="34" charset="-120"/>
              </a:rPr>
              <a:t>KEY DRIVERS</a:t>
            </a:r>
            <a:endParaRPr lang="en-US" sz="1400" dirty="0"/>
          </a:p>
        </p:txBody>
      </p:sp>
      <p:sp>
        <p:nvSpPr>
          <p:cNvPr id="8" name="Text 5"/>
          <p:cNvSpPr/>
          <p:nvPr/>
        </p:nvSpPr>
        <p:spPr>
          <a:xfrm>
            <a:off x="685800" y="1161288"/>
            <a:ext cx="4434108" cy="4590288"/>
          </a:xfrm>
          <a:prstGeom prst="rect">
            <a:avLst/>
          </a:prstGeom>
          <a:noFill/>
          <a:ln/>
        </p:spPr>
        <p:txBody>
          <a:bodyPr wrap="square" lIns="0" tIns="0" rIns="0" bIns="0" rtlCol="0" anchor="t"/>
          <a:lstStyle/>
          <a:p>
            <a:pPr marL="342900" indent="-342900">
              <a:spcAft>
                <a:spcPts val="1800"/>
              </a:spcAft>
              <a:buSzPct val="100000"/>
              <a:buChar char="•"/>
            </a:pPr>
            <a:r>
              <a:rPr lang="en-US" sz="1150" dirty="0">
                <a:solidFill>
                  <a:srgbClr val="FFFFFF"/>
                </a:solidFill>
                <a:latin typeface="Calibri" pitchFamily="34" charset="0"/>
                <a:ea typeface="Calibri" pitchFamily="34" charset="-122"/>
                <a:cs typeface="Calibri" pitchFamily="34" charset="-120"/>
              </a:rPr>
              <a:t>Revenue growth was supported by higher shipping volumes and improved utilization.</a:t>
            </a:r>
            <a:endParaRPr lang="en-US" sz="1150" dirty="0"/>
          </a:p>
          <a:p>
            <a:pPr marL="342900" indent="-342900">
              <a:spcAft>
                <a:spcPts val="1800"/>
              </a:spcAft>
              <a:buSzPct val="100000"/>
              <a:buChar char="•"/>
            </a:pPr>
            <a:r>
              <a:rPr lang="en-US" sz="1150" dirty="0">
                <a:solidFill>
                  <a:srgbClr val="FFFFFF"/>
                </a:solidFill>
                <a:latin typeface="Calibri" pitchFamily="34" charset="0"/>
                <a:ea typeface="Calibri" pitchFamily="34" charset="-122"/>
                <a:cs typeface="Calibri" pitchFamily="34" charset="-120"/>
              </a:rPr>
              <a:t>Lower empty miles contributed to increased efficiency this period.</a:t>
            </a:r>
            <a:endParaRPr lang="en-US" sz="1150" dirty="0"/>
          </a:p>
          <a:p>
            <a:pPr marL="342900" indent="-342900">
              <a:spcAft>
                <a:spcPts val="1800"/>
              </a:spcAft>
              <a:buSzPct val="100000"/>
              <a:buChar char="•"/>
            </a:pPr>
            <a:r>
              <a:rPr lang="en-US" sz="1150" dirty="0">
                <a:solidFill>
                  <a:srgbClr val="FFFFFF"/>
                </a:solidFill>
                <a:latin typeface="Calibri" pitchFamily="34" charset="0"/>
                <a:ea typeface="Calibri" pitchFamily="34" charset="-122"/>
                <a:cs typeface="Calibri" pitchFamily="34" charset="-120"/>
              </a:rPr>
              <a:t>Fuel costs rose slightly, exerting pressure on overall expenses.</a:t>
            </a:r>
            <a:endParaRPr lang="en-US" sz="1150" dirty="0"/>
          </a:p>
          <a:p>
            <a:pPr marL="342900" indent="-342900">
              <a:spcAft>
                <a:spcPts val="1800"/>
              </a:spcAft>
              <a:buSzPct val="100000"/>
              <a:buChar char="•"/>
            </a:pPr>
            <a:r>
              <a:rPr lang="en-US" sz="1150" dirty="0">
                <a:solidFill>
                  <a:srgbClr val="FFFFFF"/>
                </a:solidFill>
                <a:latin typeface="Calibri" pitchFamily="34" charset="0"/>
                <a:ea typeface="Calibri" pitchFamily="34" charset="-122"/>
                <a:cs typeface="Calibri" pitchFamily="34" charset="-120"/>
              </a:rPr>
              <a:t>Labor costs remained stable, which helped offset higher fuel expenses.</a:t>
            </a:r>
            <a:endParaRPr lang="en-US" sz="1150" dirty="0"/>
          </a:p>
        </p:txBody>
      </p:sp>
      <p:sp>
        <p:nvSpPr>
          <p:cNvPr id="9" name="Shape 6"/>
          <p:cNvSpPr/>
          <p:nvPr/>
        </p:nvSpPr>
        <p:spPr>
          <a:xfrm>
            <a:off x="5577108" y="777240"/>
            <a:ext cx="6108924" cy="5047488"/>
          </a:xfrm>
          <a:prstGeom prst="rect">
            <a:avLst/>
          </a:prstGeom>
          <a:solidFill>
            <a:srgbClr val="132035"/>
          </a:solidFill>
          <a:ln w="6350">
            <a:solidFill>
              <a:srgbClr val="1A2B47"/>
            </a:solidFill>
            <a:prstDash val="solid"/>
          </a:ln>
        </p:spPr>
        <p:txBody>
          <a:bodyPr/>
          <a:lstStyle/>
          <a:p>
            <a:endParaRPr lang="en-US"/>
          </a:p>
        </p:txBody>
      </p:sp>
      <p:sp>
        <p:nvSpPr>
          <p:cNvPr id="10" name="Shape 7"/>
          <p:cNvSpPr/>
          <p:nvPr/>
        </p:nvSpPr>
        <p:spPr>
          <a:xfrm>
            <a:off x="5577108" y="777240"/>
            <a:ext cx="6108924" cy="36576"/>
          </a:xfrm>
          <a:prstGeom prst="rect">
            <a:avLst/>
          </a:prstGeom>
          <a:solidFill>
            <a:srgbClr val="00B4D8"/>
          </a:solidFill>
          <a:ln w="12700">
            <a:solidFill>
              <a:srgbClr val="00B4D8"/>
            </a:solidFill>
            <a:prstDash val="solid"/>
          </a:ln>
        </p:spPr>
        <p:txBody>
          <a:bodyPr/>
          <a:lstStyle/>
          <a:p>
            <a:endParaRPr lang="en-US"/>
          </a:p>
        </p:txBody>
      </p:sp>
      <p:sp>
        <p:nvSpPr>
          <p:cNvPr id="11" name="Text 8"/>
          <p:cNvSpPr/>
          <p:nvPr/>
        </p:nvSpPr>
        <p:spPr>
          <a:xfrm>
            <a:off x="5759988" y="905256"/>
            <a:ext cx="5743164" cy="219456"/>
          </a:xfrm>
          <a:prstGeom prst="rect">
            <a:avLst/>
          </a:prstGeom>
          <a:noFill/>
          <a:ln/>
        </p:spPr>
        <p:txBody>
          <a:bodyPr wrap="square" lIns="0" tIns="0" rIns="0" bIns="0" rtlCol="0" anchor="ctr"/>
          <a:lstStyle/>
          <a:p>
            <a:pPr marL="0" indent="0">
              <a:buNone/>
            </a:pPr>
            <a:r>
              <a:rPr lang="en-US" sz="1400" b="1" kern="0" spc="200" dirty="0">
                <a:solidFill>
                  <a:srgbClr val="00B4D8"/>
                </a:solidFill>
                <a:latin typeface="Calibri" pitchFamily="34" charset="0"/>
                <a:ea typeface="Calibri" pitchFamily="34" charset="-122"/>
                <a:cs typeface="Calibri" pitchFamily="34" charset="-120"/>
              </a:rPr>
              <a:t>BOTTOM LINE</a:t>
            </a:r>
            <a:endParaRPr lang="en-US" sz="1400" dirty="0"/>
          </a:p>
        </p:txBody>
      </p:sp>
      <p:sp>
        <p:nvSpPr>
          <p:cNvPr id="12" name="Text 9"/>
          <p:cNvSpPr/>
          <p:nvPr/>
        </p:nvSpPr>
        <p:spPr>
          <a:xfrm>
            <a:off x="5759988" y="1197864"/>
            <a:ext cx="5743164" cy="4553712"/>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The period closed strong with higher revenue and margin reflecting solid regional operations. Next month’s priority is to aggressively target empty miles and Tanker on-time delivery rates.</a:t>
            </a:r>
            <a:endParaRPr lang="en-US" sz="1200" dirty="0"/>
          </a:p>
        </p:txBody>
      </p:sp>
      <p:sp>
        <p:nvSpPr>
          <p:cNvPr id="13" name="Shape 10"/>
          <p:cNvSpPr/>
          <p:nvPr/>
        </p:nvSpPr>
        <p:spPr>
          <a:xfrm>
            <a:off x="502920" y="5952744"/>
            <a:ext cx="11183112" cy="594360"/>
          </a:xfrm>
          <a:prstGeom prst="rect">
            <a:avLst/>
          </a:prstGeom>
          <a:solidFill>
            <a:srgbClr val="00B4D8"/>
          </a:solidFill>
          <a:ln w="12700">
            <a:solidFill>
              <a:srgbClr val="00B4D8"/>
            </a:solidFill>
            <a:prstDash val="solid"/>
          </a:ln>
        </p:spPr>
        <p:txBody>
          <a:bodyPr/>
          <a:lstStyle/>
          <a:p>
            <a:endParaRPr lang="en-US"/>
          </a:p>
        </p:txBody>
      </p:sp>
      <p:sp>
        <p:nvSpPr>
          <p:cNvPr id="14" name="Text 11"/>
          <p:cNvSpPr/>
          <p:nvPr/>
        </p:nvSpPr>
        <p:spPr>
          <a:xfrm>
            <a:off x="685800" y="5952744"/>
            <a:ext cx="10817352" cy="594360"/>
          </a:xfrm>
          <a:prstGeom prst="rect">
            <a:avLst/>
          </a:prstGeom>
          <a:noFill/>
          <a:ln/>
        </p:spPr>
        <p:txBody>
          <a:bodyPr wrap="square" lIns="0" tIns="0" rIns="0" bIns="0" rtlCol="0" anchor="ctr"/>
          <a:lstStyle/>
          <a:p>
            <a:pPr marL="0" indent="0" algn="ctr">
              <a:buNone/>
            </a:pPr>
            <a:r>
              <a:rPr lang="en-US" sz="1250" b="1" dirty="0">
                <a:solidFill>
                  <a:srgbClr val="080F1C"/>
                </a:solidFill>
                <a:latin typeface="Calibri" pitchFamily="34" charset="0"/>
                <a:ea typeface="Calibri" pitchFamily="34" charset="-122"/>
                <a:cs typeface="Calibri" pitchFamily="34" charset="-120"/>
              </a:rPr>
              <a:t>Intensify optimisation efforts on Tanker on-time performance and further reduce empty miles in June.</a:t>
            </a:r>
            <a:endParaRPr lang="en-US" sz="1250" dirty="0"/>
          </a:p>
        </p:txBody>
      </p:sp>
      <p:sp>
        <p:nvSpPr>
          <p:cNvPr id="15" name="Shape 12"/>
          <p:cNvSpPr/>
          <p:nvPr/>
        </p:nvSpPr>
        <p:spPr>
          <a:xfrm>
            <a:off x="0" y="6638544"/>
            <a:ext cx="12188952" cy="219456"/>
          </a:xfrm>
          <a:prstGeom prst="rect">
            <a:avLst/>
          </a:prstGeom>
          <a:solidFill>
            <a:srgbClr val="050C18"/>
          </a:solidFill>
          <a:ln w="12700">
            <a:solidFill>
              <a:srgbClr val="050C18"/>
            </a:solidFill>
            <a:prstDash val="solid"/>
          </a:ln>
        </p:spPr>
        <p:txBody>
          <a:bodyPr/>
          <a:lstStyle/>
          <a:p>
            <a:endParaRPr lang="en-US"/>
          </a:p>
        </p:txBody>
      </p:sp>
      <p:sp>
        <p:nvSpPr>
          <p:cNvPr id="16" name="Text 13"/>
          <p:cNvSpPr/>
          <p:nvPr/>
        </p:nvSpPr>
        <p:spPr>
          <a:xfrm>
            <a:off x="502920" y="6638544"/>
            <a:ext cx="11183112" cy="219456"/>
          </a:xfrm>
          <a:prstGeom prst="rect">
            <a:avLst/>
          </a:prstGeom>
          <a:noFill/>
          <a:ln/>
        </p:spPr>
        <p:txBody>
          <a:bodyPr wrap="square" lIns="0" tIns="0" rIns="0" bIns="0" rtlCol="0" anchor="ctr"/>
          <a:lstStyle/>
          <a:p>
            <a:pPr marL="0" indent="0" algn="ctr">
              <a:buNone/>
            </a:pPr>
            <a:r>
              <a:rPr lang="en-US" sz="700" dirty="0">
                <a:solidFill>
                  <a:srgbClr val="4B5E78"/>
                </a:solidFill>
                <a:latin typeface="Calibri" pitchFamily="34" charset="0"/>
                <a:ea typeface="Calibri" pitchFamily="34" charset="-122"/>
                <a:cs typeface="Calibri" pitchFamily="34" charset="-120"/>
              </a:rPr>
              <a:t>May 2025  ·  Confidential  ·  Page 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F1C"/>
        </a:solidFill>
        <a:effectLst/>
      </p:bgPr>
    </p:bg>
    <p:spTree>
      <p:nvGrpSpPr>
        <p:cNvPr id="1" name=""/>
        <p:cNvGrpSpPr/>
        <p:nvPr/>
      </p:nvGrpSpPr>
      <p:grpSpPr>
        <a:xfrm>
          <a:off x="0" y="0"/>
          <a:ext cx="0" cy="0"/>
          <a:chOff x="0" y="0"/>
          <a:chExt cx="0" cy="0"/>
        </a:xfrm>
      </p:grpSpPr>
      <p:sp>
        <p:nvSpPr>
          <p:cNvPr id="3" name="Text 0"/>
          <p:cNvSpPr/>
          <p:nvPr/>
        </p:nvSpPr>
        <p:spPr>
          <a:xfrm>
            <a:off x="502920" y="164592"/>
            <a:ext cx="11183112"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Sources &amp; Methodology</a:t>
            </a:r>
            <a:endParaRPr lang="en-US" sz="2000" dirty="0"/>
          </a:p>
        </p:txBody>
      </p:sp>
      <p:sp>
        <p:nvSpPr>
          <p:cNvPr id="4" name="Shape 1"/>
          <p:cNvSpPr/>
          <p:nvPr/>
        </p:nvSpPr>
        <p:spPr>
          <a:xfrm>
            <a:off x="502920" y="640080"/>
            <a:ext cx="11183112" cy="22860"/>
          </a:xfrm>
          <a:prstGeom prst="rect">
            <a:avLst/>
          </a:prstGeom>
          <a:solidFill>
            <a:srgbClr val="00B4D8"/>
          </a:solidFill>
          <a:ln w="12700">
            <a:solidFill>
              <a:srgbClr val="00B4D8"/>
            </a:solidFill>
            <a:prstDash val="solid"/>
          </a:ln>
        </p:spPr>
        <p:txBody>
          <a:bodyPr/>
          <a:lstStyle/>
          <a:p>
            <a:endParaRPr lang="en-US"/>
          </a:p>
        </p:txBody>
      </p:sp>
      <p:sp>
        <p:nvSpPr>
          <p:cNvPr id="5" name="Shape 2"/>
          <p:cNvSpPr/>
          <p:nvPr/>
        </p:nvSpPr>
        <p:spPr>
          <a:xfrm>
            <a:off x="502920" y="777240"/>
            <a:ext cx="5481828" cy="914400"/>
          </a:xfrm>
          <a:prstGeom prst="rect">
            <a:avLst/>
          </a:prstGeom>
          <a:solidFill>
            <a:srgbClr val="132035"/>
          </a:solidFill>
          <a:ln w="6350">
            <a:solidFill>
              <a:srgbClr val="1A2B47"/>
            </a:solidFill>
            <a:prstDash val="solid"/>
          </a:ln>
        </p:spPr>
        <p:txBody>
          <a:bodyPr/>
          <a:lstStyle/>
          <a:p>
            <a:endParaRPr lang="en-US"/>
          </a:p>
        </p:txBody>
      </p:sp>
      <p:sp>
        <p:nvSpPr>
          <p:cNvPr id="6" name="Shape 3"/>
          <p:cNvSpPr/>
          <p:nvPr/>
        </p:nvSpPr>
        <p:spPr>
          <a:xfrm>
            <a:off x="502920" y="777240"/>
            <a:ext cx="5481828" cy="36576"/>
          </a:xfrm>
          <a:prstGeom prst="rect">
            <a:avLst/>
          </a:prstGeom>
          <a:solidFill>
            <a:srgbClr val="00B4D8"/>
          </a:solidFill>
          <a:ln w="12700">
            <a:solidFill>
              <a:srgbClr val="00B4D8"/>
            </a:solidFill>
            <a:prstDash val="solid"/>
          </a:ln>
        </p:spPr>
        <p:txBody>
          <a:bodyPr/>
          <a:lstStyle/>
          <a:p>
            <a:endParaRPr lang="en-US"/>
          </a:p>
        </p:txBody>
      </p:sp>
      <p:sp>
        <p:nvSpPr>
          <p:cNvPr id="7" name="Text 4"/>
          <p:cNvSpPr/>
          <p:nvPr/>
        </p:nvSpPr>
        <p:spPr>
          <a:xfrm>
            <a:off x="685800" y="886968"/>
            <a:ext cx="5116068" cy="182880"/>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SOURCE 1</a:t>
            </a:r>
            <a:endParaRPr lang="en-US" sz="750" dirty="0"/>
          </a:p>
        </p:txBody>
      </p:sp>
      <p:sp>
        <p:nvSpPr>
          <p:cNvPr id="8" name="Text 5"/>
          <p:cNvSpPr/>
          <p:nvPr/>
        </p:nvSpPr>
        <p:spPr>
          <a:xfrm>
            <a:off x="685800" y="1069848"/>
            <a:ext cx="5116068" cy="47548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Fabric Lakehouse — lh_trucking_ops</a:t>
            </a:r>
            <a:endParaRPr lang="en-US" sz="1400" dirty="0"/>
          </a:p>
        </p:txBody>
      </p:sp>
      <p:sp>
        <p:nvSpPr>
          <p:cNvPr id="9" name="Shape 6"/>
          <p:cNvSpPr/>
          <p:nvPr/>
        </p:nvSpPr>
        <p:spPr>
          <a:xfrm>
            <a:off x="6204204" y="777240"/>
            <a:ext cx="5481828" cy="914400"/>
          </a:xfrm>
          <a:prstGeom prst="rect">
            <a:avLst/>
          </a:prstGeom>
          <a:solidFill>
            <a:srgbClr val="132035"/>
          </a:solidFill>
          <a:ln w="6350">
            <a:solidFill>
              <a:srgbClr val="1A2B47"/>
            </a:solidFill>
            <a:prstDash val="solid"/>
          </a:ln>
        </p:spPr>
        <p:txBody>
          <a:bodyPr/>
          <a:lstStyle/>
          <a:p>
            <a:endParaRPr lang="en-US"/>
          </a:p>
        </p:txBody>
      </p:sp>
      <p:sp>
        <p:nvSpPr>
          <p:cNvPr id="10" name="Shape 7"/>
          <p:cNvSpPr/>
          <p:nvPr/>
        </p:nvSpPr>
        <p:spPr>
          <a:xfrm>
            <a:off x="6204204" y="777240"/>
            <a:ext cx="5481828" cy="36576"/>
          </a:xfrm>
          <a:prstGeom prst="rect">
            <a:avLst/>
          </a:prstGeom>
          <a:solidFill>
            <a:srgbClr val="00B4D8"/>
          </a:solidFill>
          <a:ln w="12700">
            <a:solidFill>
              <a:srgbClr val="00B4D8"/>
            </a:solidFill>
            <a:prstDash val="solid"/>
          </a:ln>
        </p:spPr>
        <p:txBody>
          <a:bodyPr/>
          <a:lstStyle/>
          <a:p>
            <a:endParaRPr lang="en-US"/>
          </a:p>
        </p:txBody>
      </p:sp>
      <p:sp>
        <p:nvSpPr>
          <p:cNvPr id="11" name="Text 8"/>
          <p:cNvSpPr/>
          <p:nvPr/>
        </p:nvSpPr>
        <p:spPr>
          <a:xfrm>
            <a:off x="6387084" y="886968"/>
            <a:ext cx="5116068" cy="182880"/>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SOURCE 2</a:t>
            </a:r>
            <a:endParaRPr lang="en-US" sz="750" dirty="0"/>
          </a:p>
        </p:txBody>
      </p:sp>
      <p:sp>
        <p:nvSpPr>
          <p:cNvPr id="12" name="Text 9"/>
          <p:cNvSpPr/>
          <p:nvPr/>
        </p:nvSpPr>
        <p:spPr>
          <a:xfrm>
            <a:off x="6387084" y="1069848"/>
            <a:ext cx="5116068" cy="47548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Azure AI Foundry Agent</a:t>
            </a:r>
            <a:endParaRPr lang="en-US" sz="1400" dirty="0"/>
          </a:p>
        </p:txBody>
      </p:sp>
      <p:sp>
        <p:nvSpPr>
          <p:cNvPr id="13" name="Shape 10"/>
          <p:cNvSpPr/>
          <p:nvPr/>
        </p:nvSpPr>
        <p:spPr>
          <a:xfrm>
            <a:off x="502920" y="1874520"/>
            <a:ext cx="5481828" cy="914400"/>
          </a:xfrm>
          <a:prstGeom prst="rect">
            <a:avLst/>
          </a:prstGeom>
          <a:solidFill>
            <a:srgbClr val="132035"/>
          </a:solidFill>
          <a:ln w="6350">
            <a:solidFill>
              <a:srgbClr val="1A2B47"/>
            </a:solidFill>
            <a:prstDash val="solid"/>
          </a:ln>
        </p:spPr>
        <p:txBody>
          <a:bodyPr/>
          <a:lstStyle/>
          <a:p>
            <a:endParaRPr lang="en-US"/>
          </a:p>
        </p:txBody>
      </p:sp>
      <p:sp>
        <p:nvSpPr>
          <p:cNvPr id="14" name="Shape 11"/>
          <p:cNvSpPr/>
          <p:nvPr/>
        </p:nvSpPr>
        <p:spPr>
          <a:xfrm>
            <a:off x="502920" y="1874520"/>
            <a:ext cx="5481828" cy="36576"/>
          </a:xfrm>
          <a:prstGeom prst="rect">
            <a:avLst/>
          </a:prstGeom>
          <a:solidFill>
            <a:srgbClr val="00B4D8"/>
          </a:solidFill>
          <a:ln w="12700">
            <a:solidFill>
              <a:srgbClr val="00B4D8"/>
            </a:solidFill>
            <a:prstDash val="solid"/>
          </a:ln>
        </p:spPr>
        <p:txBody>
          <a:bodyPr/>
          <a:lstStyle/>
          <a:p>
            <a:endParaRPr lang="en-US"/>
          </a:p>
        </p:txBody>
      </p:sp>
      <p:sp>
        <p:nvSpPr>
          <p:cNvPr id="15" name="Text 12"/>
          <p:cNvSpPr/>
          <p:nvPr/>
        </p:nvSpPr>
        <p:spPr>
          <a:xfrm>
            <a:off x="685800" y="1984248"/>
            <a:ext cx="5116068" cy="182880"/>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SOURCE 3</a:t>
            </a:r>
            <a:endParaRPr lang="en-US" sz="750" dirty="0"/>
          </a:p>
        </p:txBody>
      </p:sp>
      <p:sp>
        <p:nvSpPr>
          <p:cNvPr id="16" name="Text 13"/>
          <p:cNvSpPr/>
          <p:nvPr/>
        </p:nvSpPr>
        <p:spPr>
          <a:xfrm>
            <a:off x="685800" y="2167128"/>
            <a:ext cx="5116068" cy="47548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LONGHAUL MBR Platform</a:t>
            </a:r>
            <a:endParaRPr lang="en-US" sz="1400" dirty="0"/>
          </a:p>
        </p:txBody>
      </p:sp>
      <p:sp>
        <p:nvSpPr>
          <p:cNvPr id="17" name="Shape 14"/>
          <p:cNvSpPr/>
          <p:nvPr/>
        </p:nvSpPr>
        <p:spPr>
          <a:xfrm>
            <a:off x="6204204" y="1874520"/>
            <a:ext cx="5481828" cy="914400"/>
          </a:xfrm>
          <a:prstGeom prst="rect">
            <a:avLst/>
          </a:prstGeom>
          <a:solidFill>
            <a:srgbClr val="132035"/>
          </a:solidFill>
          <a:ln w="6350">
            <a:solidFill>
              <a:srgbClr val="1A2B47"/>
            </a:solidFill>
            <a:prstDash val="solid"/>
          </a:ln>
        </p:spPr>
        <p:txBody>
          <a:bodyPr/>
          <a:lstStyle/>
          <a:p>
            <a:endParaRPr lang="en-US"/>
          </a:p>
        </p:txBody>
      </p:sp>
      <p:sp>
        <p:nvSpPr>
          <p:cNvPr id="18" name="Shape 15"/>
          <p:cNvSpPr/>
          <p:nvPr/>
        </p:nvSpPr>
        <p:spPr>
          <a:xfrm>
            <a:off x="6204204" y="1874520"/>
            <a:ext cx="5481828" cy="36576"/>
          </a:xfrm>
          <a:prstGeom prst="rect">
            <a:avLst/>
          </a:prstGeom>
          <a:solidFill>
            <a:srgbClr val="00B4D8"/>
          </a:solidFill>
          <a:ln w="12700">
            <a:solidFill>
              <a:srgbClr val="00B4D8"/>
            </a:solidFill>
            <a:prstDash val="solid"/>
          </a:ln>
        </p:spPr>
        <p:txBody>
          <a:bodyPr/>
          <a:lstStyle/>
          <a:p>
            <a:endParaRPr lang="en-US"/>
          </a:p>
        </p:txBody>
      </p:sp>
      <p:sp>
        <p:nvSpPr>
          <p:cNvPr id="19" name="Text 16"/>
          <p:cNvSpPr/>
          <p:nvPr/>
        </p:nvSpPr>
        <p:spPr>
          <a:xfrm>
            <a:off x="6387084" y="1984248"/>
            <a:ext cx="5116068" cy="182880"/>
          </a:xfrm>
          <a:prstGeom prst="rect">
            <a:avLst/>
          </a:prstGeom>
          <a:noFill/>
          <a:ln/>
        </p:spPr>
        <p:txBody>
          <a:bodyPr wrap="square" lIns="0" tIns="0" rIns="0" bIns="0" rtlCol="0" anchor="ctr"/>
          <a:lstStyle/>
          <a:p>
            <a:pPr marL="0" indent="0">
              <a:buNone/>
            </a:pPr>
            <a:r>
              <a:rPr lang="en-US" sz="750" kern="0" spc="150" dirty="0">
                <a:solidFill>
                  <a:srgbClr val="94A3B8"/>
                </a:solidFill>
                <a:latin typeface="Calibri" pitchFamily="34" charset="0"/>
                <a:ea typeface="Calibri" pitchFamily="34" charset="-122"/>
                <a:cs typeface="Calibri" pitchFamily="34" charset="-120"/>
              </a:rPr>
              <a:t>SOURCE 4</a:t>
            </a:r>
            <a:endParaRPr lang="en-US" sz="750" dirty="0"/>
          </a:p>
        </p:txBody>
      </p:sp>
      <p:sp>
        <p:nvSpPr>
          <p:cNvPr id="20" name="Text 17"/>
          <p:cNvSpPr/>
          <p:nvPr/>
        </p:nvSpPr>
        <p:spPr>
          <a:xfrm>
            <a:off x="6387084" y="2167128"/>
            <a:ext cx="5116068" cy="47548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a:r>
            <a:endParaRPr lang="en-US" sz="1400" dirty="0"/>
          </a:p>
        </p:txBody>
      </p:sp>
      <p:sp>
        <p:nvSpPr>
          <p:cNvPr id="21" name="Shape 18"/>
          <p:cNvSpPr/>
          <p:nvPr/>
        </p:nvSpPr>
        <p:spPr>
          <a:xfrm>
            <a:off x="502920" y="3099816"/>
            <a:ext cx="11183112" cy="512064"/>
          </a:xfrm>
          <a:prstGeom prst="rect">
            <a:avLst/>
          </a:prstGeom>
          <a:solidFill>
            <a:srgbClr val="132035"/>
          </a:solidFill>
          <a:ln w="6350">
            <a:solidFill>
              <a:srgbClr val="1A2B47"/>
            </a:solidFill>
            <a:prstDash val="solid"/>
          </a:ln>
        </p:spPr>
        <p:txBody>
          <a:bodyPr/>
          <a:lstStyle/>
          <a:p>
            <a:endParaRPr lang="en-US"/>
          </a:p>
        </p:txBody>
      </p:sp>
      <p:sp>
        <p:nvSpPr>
          <p:cNvPr id="22" name="Text 19"/>
          <p:cNvSpPr/>
          <p:nvPr/>
        </p:nvSpPr>
        <p:spPr>
          <a:xfrm>
            <a:off x="685800" y="3227832"/>
            <a:ext cx="10817352" cy="274320"/>
          </a:xfrm>
          <a:prstGeom prst="rect">
            <a:avLst/>
          </a:prstGeom>
          <a:noFill/>
          <a:ln/>
        </p:spPr>
        <p:txBody>
          <a:bodyPr wrap="square" lIns="0" tIns="0" rIns="0" bIns="0"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Data Range  </a:t>
            </a:r>
            <a:r>
              <a:rPr lang="en-US" sz="1050" b="1" dirty="0">
                <a:solidFill>
                  <a:srgbClr val="FFFFFF"/>
                </a:solidFill>
                <a:latin typeface="Calibri" pitchFamily="34" charset="0"/>
                <a:ea typeface="Calibri" pitchFamily="34" charset="-122"/>
                <a:cs typeface="Calibri" pitchFamily="34" charset="-120"/>
              </a:rPr>
              <a:t>May 2025 – May 2025</a:t>
            </a:r>
            <a:r>
              <a:rPr lang="en-US" sz="1050" dirty="0">
                <a:solidFill>
                  <a:srgbClr val="94A3B8"/>
                </a:solidFill>
                <a:latin typeface="Calibri" pitchFamily="34" charset="0"/>
                <a:ea typeface="Calibri" pitchFamily="34" charset="-122"/>
                <a:cs typeface="Calibri" pitchFamily="34" charset="-120"/>
              </a:rPr>
              <a:t>     ·     Report Prepared  </a:t>
            </a:r>
            <a:r>
              <a:rPr lang="en-US" sz="1050" b="1" dirty="0">
                <a:solidFill>
                  <a:srgbClr val="FFFFFF"/>
                </a:solidFill>
                <a:latin typeface="Calibri" pitchFamily="34" charset="0"/>
                <a:ea typeface="Calibri" pitchFamily="34" charset="-122"/>
                <a:cs typeface="Calibri" pitchFamily="34" charset="-120"/>
              </a:rPr>
              <a:t>June 22, 2026</a:t>
            </a:r>
            <a:endParaRPr lang="en-US" sz="1050" dirty="0"/>
          </a:p>
        </p:txBody>
      </p:sp>
      <p:sp>
        <p:nvSpPr>
          <p:cNvPr id="23" name="Text 20"/>
          <p:cNvSpPr/>
          <p:nvPr/>
        </p:nvSpPr>
        <p:spPr>
          <a:xfrm>
            <a:off x="502920" y="3758184"/>
            <a:ext cx="11183112" cy="256032"/>
          </a:xfrm>
          <a:prstGeom prst="rect">
            <a:avLst/>
          </a:prstGeom>
          <a:noFill/>
          <a:ln/>
        </p:spPr>
        <p:txBody>
          <a:bodyPr wrap="square" lIns="0" tIns="0" rIns="0" bIns="0" rtlCol="0" anchor="ctr"/>
          <a:lstStyle/>
          <a:p>
            <a:pPr marL="0" indent="0">
              <a:buNone/>
            </a:pPr>
            <a:r>
              <a:rPr lang="en-US" sz="800" b="1" kern="0" spc="200" dirty="0">
                <a:solidFill>
                  <a:srgbClr val="00B4D8"/>
                </a:solidFill>
                <a:latin typeface="Calibri" pitchFamily="34" charset="0"/>
                <a:ea typeface="Calibri" pitchFamily="34" charset="-122"/>
                <a:cs typeface="Calibri" pitchFamily="34" charset="-120"/>
              </a:rPr>
              <a:t>METHODOLOGY</a:t>
            </a:r>
            <a:endParaRPr lang="en-US" sz="800" dirty="0"/>
          </a:p>
        </p:txBody>
      </p:sp>
      <p:sp>
        <p:nvSpPr>
          <p:cNvPr id="24" name="Text 21"/>
          <p:cNvSpPr/>
          <p:nvPr/>
        </p:nvSpPr>
        <p:spPr>
          <a:xfrm>
            <a:off x="502920" y="4014216"/>
            <a:ext cx="11183112" cy="5029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KPIs aggregated from the LONGHAUL Fabric Lakehouse via Azure AI Foundry.</a:t>
            </a:r>
            <a:endParaRPr lang="en-US" sz="1000" dirty="0"/>
          </a:p>
        </p:txBody>
      </p:sp>
      <p:sp>
        <p:nvSpPr>
          <p:cNvPr id="26" name="Shape 22"/>
          <p:cNvSpPr/>
          <p:nvPr/>
        </p:nvSpPr>
        <p:spPr>
          <a:xfrm>
            <a:off x="0" y="6638544"/>
            <a:ext cx="12188952" cy="219456"/>
          </a:xfrm>
          <a:prstGeom prst="rect">
            <a:avLst/>
          </a:prstGeom>
          <a:solidFill>
            <a:srgbClr val="050C18"/>
          </a:solidFill>
          <a:ln w="12700">
            <a:solidFill>
              <a:srgbClr val="050C18"/>
            </a:solidFill>
            <a:prstDash val="solid"/>
          </a:ln>
        </p:spPr>
        <p:txBody>
          <a:bodyPr/>
          <a:lstStyle/>
          <a:p>
            <a:endParaRPr lang="en-US"/>
          </a:p>
        </p:txBody>
      </p:sp>
      <p:sp>
        <p:nvSpPr>
          <p:cNvPr id="27" name="Text 23"/>
          <p:cNvSpPr/>
          <p:nvPr/>
        </p:nvSpPr>
        <p:spPr>
          <a:xfrm>
            <a:off x="502920" y="6638544"/>
            <a:ext cx="11183112" cy="219456"/>
          </a:xfrm>
          <a:prstGeom prst="rect">
            <a:avLst/>
          </a:prstGeom>
          <a:noFill/>
          <a:ln/>
        </p:spPr>
        <p:txBody>
          <a:bodyPr wrap="square" lIns="0" tIns="0" rIns="0" bIns="0" rtlCol="0" anchor="ctr"/>
          <a:lstStyle/>
          <a:p>
            <a:pPr marL="0" indent="0" algn="ctr">
              <a:buNone/>
            </a:pPr>
            <a:r>
              <a:rPr lang="en-US" sz="700" dirty="0">
                <a:solidFill>
                  <a:srgbClr val="4B5E78"/>
                </a:solidFill>
                <a:latin typeface="Calibri" pitchFamily="34" charset="0"/>
                <a:ea typeface="Calibri" pitchFamily="34" charset="-122"/>
                <a:cs typeface="Calibri" pitchFamily="34" charset="-120"/>
              </a:rPr>
              <a:t>May 2025  ·  Confidential  ·  Page 8</a:t>
            </a:r>
            <a:endParaRPr lang="en-US" sz="700" dirty="0"/>
          </a:p>
        </p:txBody>
      </p:sp>
      <p:pic>
        <p:nvPicPr>
          <p:cNvPr id="29" name="Picture 28">
            <a:extLst>
              <a:ext uri="{FF2B5EF4-FFF2-40B4-BE49-F238E27FC236}">
                <a16:creationId xmlns:a16="http://schemas.microsoft.com/office/drawing/2014/main" id="{272A42E4-F33E-02BE-02F0-0D6FC1653478}"/>
              </a:ext>
            </a:extLst>
          </p:cNvPr>
          <p:cNvPicPr>
            <a:picLocks noChangeAspect="1"/>
          </p:cNvPicPr>
          <p:nvPr/>
        </p:nvPicPr>
        <p:blipFill>
          <a:blip r:embed="rId3"/>
          <a:srcRect l="24017" t="36923" r="25309" b="46133"/>
          <a:stretch>
            <a:fillRect/>
          </a:stretch>
        </p:blipFill>
        <p:spPr>
          <a:xfrm>
            <a:off x="4201360" y="4963395"/>
            <a:ext cx="3959083" cy="8825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25</TotalTime>
  <Words>616</Words>
  <Application>Microsoft Office PowerPoint</Application>
  <PresentationFormat>Widescreen</PresentationFormat>
  <Paragraphs>123</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MBR Executive Template v3</dc:title>
  <dc:subject>PptxGenJS Presentation</dc:subject>
  <dc:creator>Copilot</dc:creator>
  <cp:lastModifiedBy>Jonathan Scholtes</cp:lastModifiedBy>
  <cp:revision>7</cp:revision>
  <dcterms:created xsi:type="dcterms:W3CDTF">2026-06-18T01:43:33Z</dcterms:created>
  <dcterms:modified xsi:type="dcterms:W3CDTF">2026-06-22T15:17:26Z</dcterms:modified>
</cp:coreProperties>
</file>