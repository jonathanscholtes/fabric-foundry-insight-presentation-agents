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EA2391-A0E5-47E1-AE35-57520531FEB0}" v="15" dt="2026-06-22T15:15:18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9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Scholtes" userId="e880d0af-1f43-427b-913b-f3abafcb9228" providerId="ADAL" clId="{953A541B-BE96-470D-8FB3-572B734343FF}"/>
    <pc:docChg chg="modSld">
      <pc:chgData name="Jonathan Scholtes" userId="e880d0af-1f43-427b-913b-f3abafcb9228" providerId="ADAL" clId="{953A541B-BE96-470D-8FB3-572B734343FF}" dt="2026-06-22T15:17:25.926" v="2" actId="255"/>
      <pc:docMkLst>
        <pc:docMk/>
      </pc:docMkLst>
      <pc:sldChg chg="modSp mod">
        <pc:chgData name="Jonathan Scholtes" userId="e880d0af-1f43-427b-913b-f3abafcb9228" providerId="ADAL" clId="{953A541B-BE96-470D-8FB3-572B734343FF}" dt="2026-06-22T15:17:25.926" v="2" actId="255"/>
        <pc:sldMkLst>
          <pc:docMk/>
          <pc:sldMk cId="0" sldId="262"/>
        </pc:sldMkLst>
        <pc:spChg chg="mod">
          <ac:chgData name="Jonathan Scholtes" userId="e880d0af-1f43-427b-913b-f3abafcb9228" providerId="ADAL" clId="{953A541B-BE96-470D-8FB3-572B734343FF}" dt="2026-06-22T15:17:21.029" v="1" actId="255"/>
          <ac:spMkLst>
            <pc:docMk/>
            <pc:sldMk cId="0" sldId="262"/>
            <ac:spMk id="7" creationId="{00000000-0000-0000-0000-000000000000}"/>
          </ac:spMkLst>
        </pc:spChg>
        <pc:spChg chg="mod">
          <ac:chgData name="Jonathan Scholtes" userId="e880d0af-1f43-427b-913b-f3abafcb9228" providerId="ADAL" clId="{953A541B-BE96-470D-8FB3-572B734343FF}" dt="2026-06-22T15:17:17.464" v="0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onathan Scholtes" userId="e880d0af-1f43-427b-913b-f3abafcb9228" providerId="ADAL" clId="{953A541B-BE96-470D-8FB3-572B734343FF}" dt="2026-06-22T15:17:25.926" v="2" actId="255"/>
          <ac:spMkLst>
            <pc:docMk/>
            <pc:sldMk cId="0" sldId="262"/>
            <ac:spMk id="1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0" dirty="0">
                <a:effectLst/>
              </a:rPr>
              <a:t>Revenue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mmm\-yy</c:formatCode>
                <c:ptCount val="4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1.37</c:v>
                </c:pt>
                <c:pt idx="1">
                  <c:v>1.39</c:v>
                </c:pt>
                <c:pt idx="2">
                  <c:v>1.4</c:v>
                </c:pt>
                <c:pt idx="3">
                  <c:v>1.42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4B-4725-93C2-4048E33C25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mmm\-yy</c:formatCode>
                <c:ptCount val="4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94B-4725-93C2-4048E33C25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mmm\-yy</c:formatCode>
                <c:ptCount val="4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94B-4725-93C2-4048E33C25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7624431"/>
        <c:axId val="1129240783"/>
      </c:lineChart>
      <c:dateAx>
        <c:axId val="1137624431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9240783"/>
        <c:crosses val="autoZero"/>
        <c:auto val="1"/>
        <c:lblOffset val="100"/>
        <c:baseTimeUnit val="months"/>
      </c:dateAx>
      <c:valAx>
        <c:axId val="1129240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7624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0" dirty="0">
                <a:effectLst/>
              </a:rPr>
              <a:t>Cost Breakdown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Fuel</c:v>
                </c:pt>
                <c:pt idx="1">
                  <c:v>Labor</c:v>
                </c:pt>
                <c:pt idx="2">
                  <c:v>Maintenance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404600</c:v>
                </c:pt>
                <c:pt idx="1">
                  <c:v>505750</c:v>
                </c:pt>
                <c:pt idx="2">
                  <c:v>86700</c:v>
                </c:pt>
                <c:pt idx="3">
                  <c:v>115600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62-496B-8E51-EAD9C5FC39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Fuel</c:v>
                </c:pt>
                <c:pt idx="1">
                  <c:v>Labor</c:v>
                </c:pt>
                <c:pt idx="2">
                  <c:v>Maintenance</c:v>
                </c:pt>
                <c:pt idx="3">
                  <c:v>Other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4262-496B-8E51-EAD9C5FC39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Fuel</c:v>
                </c:pt>
                <c:pt idx="1">
                  <c:v>Labor</c:v>
                </c:pt>
                <c:pt idx="2">
                  <c:v>Maintenance</c:v>
                </c:pt>
                <c:pt idx="3">
                  <c:v>Other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4262-496B-8E51-EAD9C5FC39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09809871"/>
        <c:axId val="1129237903"/>
      </c:barChart>
      <c:catAx>
        <c:axId val="1009809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9237903"/>
        <c:crosses val="autoZero"/>
        <c:auto val="1"/>
        <c:lblAlgn val="ctr"/>
        <c:lblOffset val="100"/>
        <c:noMultiLvlLbl val="0"/>
      </c:catAx>
      <c:valAx>
        <c:axId val="1129237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9809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0" dirty="0">
                <a:effectLst/>
              </a:rPr>
              <a:t>Sector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63-4471-A330-8330265E64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15136463"/>
        <c:axId val="473443567"/>
      </c:barChart>
      <c:catAx>
        <c:axId val="12151364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3443567"/>
        <c:crosses val="autoZero"/>
        <c:auto val="1"/>
        <c:lblAlgn val="ctr"/>
        <c:lblOffset val="100"/>
        <c:noMultiLvlLbl val="0"/>
      </c:catAx>
      <c:valAx>
        <c:axId val="4734435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5136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5F515-76CE-4EEE-BEB8-05B5BC0E0A05}" type="datetimeFigureOut"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675933-C627-4FCF-9D59-7447AC5798A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5321808" cy="6858000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1E262DF-4671-9A84-1F5A-FD5E8C493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261130" y="-115277"/>
            <a:ext cx="0" cy="6858000"/>
          </a:xfrm>
          <a:prstGeom prst="line">
            <a:avLst/>
          </a:prstGeom>
          <a:noFill/>
          <a:ln w="355600">
            <a:solidFill>
              <a:srgbClr val="0A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0154528" y="-115277"/>
            <a:ext cx="0" cy="6858000"/>
          </a:xfrm>
          <a:prstGeom prst="line">
            <a:avLst/>
          </a:prstGeom>
          <a:noFill/>
          <a:ln w="635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352570" y="-115277"/>
            <a:ext cx="0" cy="6858000"/>
          </a:xfrm>
          <a:prstGeom prst="line">
            <a:avLst/>
          </a:prstGeom>
          <a:noFill/>
          <a:ln w="19050">
            <a:solidFill>
              <a:srgbClr val="4DD9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11480" y="1170432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BUSINESS REVIEW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11480" y="1508760"/>
            <a:ext cx="4773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Business Review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411480" y="2971800"/>
            <a:ext cx="4773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411480" y="3547872"/>
            <a:ext cx="2560320" cy="27432"/>
          </a:xfrm>
          <a:prstGeom prst="rect">
            <a:avLst/>
          </a:prstGeom>
          <a:solidFill>
            <a:srgbClr val="4B5E78"/>
          </a:solidFill>
          <a:ln w="12700">
            <a:solidFill>
              <a:srgbClr val="4B5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11480" y="3694176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{prepared_by}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11480" y="3986784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 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{data_source_count}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11480" y="6364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02920" y="66385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  ·  Confidential  ·  Page 1</a:t>
            </a:r>
            <a:endParaRPr lang="en-US" sz="7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579356A-0E7E-A329-3D4A-B2EAD3248B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017" t="36923" r="25309" b="46133"/>
          <a:stretch>
            <a:fillRect/>
          </a:stretch>
        </p:blipFill>
        <p:spPr>
          <a:xfrm>
            <a:off x="242277" y="133487"/>
            <a:ext cx="3959083" cy="8825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64592"/>
            <a:ext cx="8458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 Executive Summary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8897112" y="146304"/>
            <a:ext cx="2788920" cy="365760"/>
          </a:xfrm>
          <a:prstGeom prst="rect">
            <a:avLst/>
          </a:prstGeom>
          <a:solidFill>
            <a:srgbClr val="132035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897112" y="14630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"/>
            <a:ext cx="11183112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98348" y="777240"/>
            <a:ext cx="3584448" cy="1261872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98348" y="777240"/>
            <a:ext cx="358444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2940" y="905256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62940" y="1088136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{total_revenue}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62940" y="164592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{revenue_delta} vs prior period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02252" y="777240"/>
            <a:ext cx="3584448" cy="1261872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02252" y="777240"/>
            <a:ext cx="358444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66844" y="905256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MILES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466844" y="1088136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{total_users}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466844" y="164592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{users_delta} vs prior period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106156" y="777240"/>
            <a:ext cx="3584448" cy="1261872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106156" y="777240"/>
            <a:ext cx="358444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70748" y="905256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MILES %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270748" y="1088136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{gross_margin}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8270748" y="164592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{gross_margin_delta}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98348" y="2221992"/>
            <a:ext cx="3584448" cy="1261872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98348" y="2221992"/>
            <a:ext cx="358444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62940" y="235000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62940" y="2532888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{operating_margin}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662940" y="3090672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{operating_margin_delta}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302252" y="2221992"/>
            <a:ext cx="3584448" cy="1261872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302252" y="2221992"/>
            <a:ext cx="358444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466844" y="235000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MILE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66844" y="2532888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{cost_per_hour}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4466844" y="3090672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{cost_per_hour_delta}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8106156" y="2221992"/>
            <a:ext cx="3584448" cy="1261872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106156" y="2221992"/>
            <a:ext cx="358444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270748" y="235000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8270748" y="2532888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{on_time_delivery}</a:t>
            </a:r>
            <a:endParaRPr lang="en-US" sz="3000" dirty="0"/>
          </a:p>
        </p:txBody>
      </p:sp>
      <p:sp>
        <p:nvSpPr>
          <p:cNvPr id="36" name="Text 33"/>
          <p:cNvSpPr/>
          <p:nvPr/>
        </p:nvSpPr>
        <p:spPr>
          <a:xfrm>
            <a:off x="8270748" y="3090672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{on_time_delivery_delta}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02920" y="3831336"/>
            <a:ext cx="11183112" cy="2715768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85800" y="3941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COMMENTARY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85800" y="4123944"/>
            <a:ext cx="1081735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{executive_commentary}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02920" y="66385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  ·  Confidential  ·  Page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6459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02920" y="640080"/>
            <a:ext cx="11183112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2920" y="777240"/>
            <a:ext cx="5454396" cy="658368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923544"/>
            <a:ext cx="50886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PERIOD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{revenue_prior}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231636" y="777240"/>
            <a:ext cx="5454396" cy="658368"/>
          </a:xfrm>
          <a:prstGeom prst="rect">
            <a:avLst/>
          </a:prstGeom>
          <a:solidFill>
            <a:srgbClr val="1320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231636" y="777240"/>
            <a:ext cx="5454396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14516" y="923544"/>
            <a:ext cx="50886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PERIOD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{total_revenue}</a:t>
            </a: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{revenue_delta}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1563624"/>
            <a:ext cx="7388352" cy="4983480"/>
          </a:xfrm>
          <a:prstGeom prst="rect">
            <a:avLst/>
          </a:prstGeom>
          <a:solidFill>
            <a:srgbClr val="0D1E33"/>
          </a:solidFill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8119872" y="1563624"/>
            <a:ext cx="3566160" cy="2400300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119872" y="1563624"/>
            <a:ext cx="35661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47888" y="1673352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8247888" y="1837944"/>
            <a:ext cx="3310128" cy="2052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{revenue_insight_1}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119872" y="4146804"/>
            <a:ext cx="3566160" cy="2400300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19872" y="4146804"/>
            <a:ext cx="35661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247888" y="4256532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8247888" y="4421124"/>
            <a:ext cx="3310128" cy="2052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{revenue_insight_2}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66385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  ·  Confidential  ·  Page 3</a:t>
            </a:r>
            <a:endParaRPr lang="en-US" sz="700" dirty="0"/>
          </a:p>
        </p:txBody>
      </p:sp>
      <p:graphicFrame>
        <p:nvGraphicFramePr>
          <p:cNvPr id="23" name="revenue_trend_chart">
            <a:extLst>
              <a:ext uri="{FF2B5EF4-FFF2-40B4-BE49-F238E27FC236}">
                <a16:creationId xmlns:a16="http://schemas.microsoft.com/office/drawing/2014/main" id="{B536A059-14CF-1917-2DB2-34C757AD39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2117357"/>
              </p:ext>
            </p:extLst>
          </p:nvPr>
        </p:nvGraphicFramePr>
        <p:xfrm>
          <a:off x="685800" y="1673352"/>
          <a:ext cx="7046495" cy="44649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6459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Management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02920" y="640080"/>
            <a:ext cx="11183112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2920" y="777240"/>
            <a:ext cx="5454396" cy="960120"/>
          </a:xfrm>
          <a:prstGeom prst="rect">
            <a:avLst/>
          </a:prstGeom>
          <a:solidFill>
            <a:srgbClr val="1320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" y="777240"/>
            <a:ext cx="5454396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67512" y="886968"/>
            <a:ext cx="5125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HOUR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67512" y="1051560"/>
            <a:ext cx="51252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{cost_per_hour}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67512" y="1545336"/>
            <a:ext cx="5125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{cost_per_hour_delta}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31636" y="777240"/>
            <a:ext cx="5454396" cy="960120"/>
          </a:xfrm>
          <a:prstGeom prst="rect">
            <a:avLst/>
          </a:prstGeom>
          <a:solidFill>
            <a:srgbClr val="13203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31636" y="777240"/>
            <a:ext cx="5454396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96228" y="886968"/>
            <a:ext cx="5125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396228" y="1051560"/>
            <a:ext cx="51252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{total_cost}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396228" y="1545336"/>
            <a:ext cx="5125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{total_cost_delta}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2920" y="1901952"/>
            <a:ext cx="7388352" cy="4645152"/>
          </a:xfrm>
          <a:prstGeom prst="rect">
            <a:avLst/>
          </a:prstGeom>
          <a:solidFill>
            <a:srgbClr val="0D1E33"/>
          </a:solidFill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19872" y="1901952"/>
            <a:ext cx="3566160" cy="2231136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119872" y="1901952"/>
            <a:ext cx="35661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47888" y="2011680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247888" y="2176272"/>
            <a:ext cx="331012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{cost_insight_1}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119872" y="4315968"/>
            <a:ext cx="3566160" cy="2231136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119872" y="4315968"/>
            <a:ext cx="35661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247888" y="4425696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247888" y="4590288"/>
            <a:ext cx="331012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{cost_insight_2}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02920" y="66385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  ·  Confidential  ·  Page 4</a:t>
            </a:r>
            <a:endParaRPr lang="en-US" sz="700" dirty="0"/>
          </a:p>
        </p:txBody>
      </p:sp>
      <p:graphicFrame>
        <p:nvGraphicFramePr>
          <p:cNvPr id="28" name="cost_breakdown_chart">
            <a:extLst>
              <a:ext uri="{FF2B5EF4-FFF2-40B4-BE49-F238E27FC236}">
                <a16:creationId xmlns:a16="http://schemas.microsoft.com/office/drawing/2014/main" id="{627A7A03-D15B-5346-D135-CD12A52C32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7755080"/>
              </p:ext>
            </p:extLst>
          </p:nvPr>
        </p:nvGraphicFramePr>
        <p:xfrm>
          <a:off x="667512" y="1938528"/>
          <a:ext cx="7046273" cy="4535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6459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02920" y="640080"/>
            <a:ext cx="11183112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2920" y="777240"/>
            <a:ext cx="3581400" cy="1024128"/>
          </a:xfrm>
          <a:prstGeom prst="rect">
            <a:avLst/>
          </a:prstGeom>
          <a:solidFill>
            <a:srgbClr val="1320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" y="777240"/>
            <a:ext cx="3581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67512" y="886968"/>
            <a:ext cx="3252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67512" y="1051560"/>
            <a:ext cx="3252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{on_time_delivery}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67512" y="1545336"/>
            <a:ext cx="3252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{on_time_delivery_delta}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03776" y="777240"/>
            <a:ext cx="3581400" cy="1024128"/>
          </a:xfrm>
          <a:prstGeom prst="rect">
            <a:avLst/>
          </a:prstGeom>
          <a:solidFill>
            <a:srgbClr val="1320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03776" y="777240"/>
            <a:ext cx="3581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468368" y="886968"/>
            <a:ext cx="3252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RATE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468368" y="1051560"/>
            <a:ext cx="3252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{utilization_rate}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468368" y="1545336"/>
            <a:ext cx="3252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{utilization_rate_delta}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104632" y="777240"/>
            <a:ext cx="3581400" cy="1024128"/>
          </a:xfrm>
          <a:prstGeom prst="rect">
            <a:avLst/>
          </a:prstGeom>
          <a:solidFill>
            <a:srgbClr val="1320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04632" y="777240"/>
            <a:ext cx="3581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69224" y="886968"/>
            <a:ext cx="3252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8269224" y="1051560"/>
            <a:ext cx="3252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{sla_compliance}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269224" y="1545336"/>
            <a:ext cx="3252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{sla_compliance_delta}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02920" y="1965960"/>
            <a:ext cx="4389120" cy="4581144"/>
          </a:xfrm>
          <a:prstGeom prst="rect">
            <a:avLst/>
          </a:prstGeom>
          <a:solidFill>
            <a:srgbClr val="0D1E33"/>
          </a:solidFill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40919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{efficiency_score}%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(Donut / Gauge — Insert programmatically)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111496" y="1965960"/>
            <a:ext cx="6574536" cy="4581144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111496" y="1965960"/>
            <a:ext cx="6574536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39512" y="2075688"/>
            <a:ext cx="6318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239512" y="2240280"/>
            <a:ext cx="6318504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{efficiency_analysis}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2920" y="66385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  ·  Confidential  ·  Page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6459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Performance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02920" y="640080"/>
            <a:ext cx="11183112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074152" y="146304"/>
            <a:ext cx="3611880" cy="365760"/>
          </a:xfrm>
          <a:prstGeom prst="rect">
            <a:avLst/>
          </a:prstGeom>
          <a:solidFill>
            <a:srgbClr val="162A15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74152" y="1463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  </a:t>
            </a: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{top_sector_name}  ↑ {top_sector_growth}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777240"/>
            <a:ext cx="5303520" cy="5769864"/>
          </a:xfrm>
          <a:prstGeom prst="rect">
            <a:avLst/>
          </a:prstGeom>
          <a:solidFill>
            <a:srgbClr val="0D1E33"/>
          </a:solidFill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62472" y="777240"/>
            <a:ext cx="56235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53912" y="859536"/>
            <a:ext cx="20244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8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178394" y="859536"/>
            <a:ext cx="13496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8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9528048" y="859536"/>
            <a:ext cx="12371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8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0765231" y="859536"/>
            <a:ext cx="10122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8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062472" y="1124712"/>
            <a:ext cx="5623560" cy="1355598"/>
          </a:xfrm>
          <a:prstGeom prst="rect">
            <a:avLst/>
          </a:prstGeom>
          <a:solidFill>
            <a:srgbClr val="132035"/>
          </a:solidFill>
          <a:ln w="6350">
            <a:solidFill>
              <a:srgbClr val="4B5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53912" y="1674495"/>
            <a:ext cx="20244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{s1_name}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178394" y="1674495"/>
            <a:ext cx="13496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{s1_revenue}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528048" y="1674495"/>
            <a:ext cx="12371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{s1_growth}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765231" y="1674495"/>
            <a:ext cx="1012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{s1_margin}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62472" y="2480310"/>
            <a:ext cx="5623560" cy="1355598"/>
          </a:xfrm>
          <a:prstGeom prst="rect">
            <a:avLst/>
          </a:prstGeom>
          <a:solidFill>
            <a:srgbClr val="0D1828"/>
          </a:solidFill>
          <a:ln w="6350">
            <a:solidFill>
              <a:srgbClr val="4B5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153912" y="3030093"/>
            <a:ext cx="20244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{s2_name}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178394" y="3030093"/>
            <a:ext cx="13496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{s2_revenue}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528048" y="3030093"/>
            <a:ext cx="12371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{s2_growth}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765231" y="3030093"/>
            <a:ext cx="1012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{s2_margin}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62472" y="3835908"/>
            <a:ext cx="5623560" cy="1355598"/>
          </a:xfrm>
          <a:prstGeom prst="rect">
            <a:avLst/>
          </a:prstGeom>
          <a:solidFill>
            <a:srgbClr val="132035"/>
          </a:solidFill>
          <a:ln w="6350">
            <a:solidFill>
              <a:srgbClr val="4B5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153912" y="4385691"/>
            <a:ext cx="20244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{s3_name}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178394" y="4385691"/>
            <a:ext cx="13496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{s3_revenue}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528048" y="4385691"/>
            <a:ext cx="12371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{s3_growth}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765231" y="4385691"/>
            <a:ext cx="1012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{s3_margin}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062472" y="5191506"/>
            <a:ext cx="5623560" cy="1355598"/>
          </a:xfrm>
          <a:prstGeom prst="rect">
            <a:avLst/>
          </a:prstGeom>
          <a:solidFill>
            <a:srgbClr val="0D1828"/>
          </a:solidFill>
          <a:ln w="6350">
            <a:solidFill>
              <a:srgbClr val="4B5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153912" y="5741289"/>
            <a:ext cx="20244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{s4_name}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178394" y="5741289"/>
            <a:ext cx="13496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{s4_revenue}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528048" y="5741289"/>
            <a:ext cx="12371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{s4_growth}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0765231" y="5741289"/>
            <a:ext cx="1012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{s4_margin}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6385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  ·  Confidential  ·  Page 6</a:t>
            </a:r>
            <a:endParaRPr lang="en-US" sz="700" dirty="0"/>
          </a:p>
        </p:txBody>
      </p:sp>
      <p:graphicFrame>
        <p:nvGraphicFramePr>
          <p:cNvPr id="37" name="sector_revenue_chart">
            <a:extLst>
              <a:ext uri="{FF2B5EF4-FFF2-40B4-BE49-F238E27FC236}">
                <a16:creationId xmlns:a16="http://schemas.microsoft.com/office/drawing/2014/main" id="{C408F873-D7B2-C8DB-B028-9F6F9921EB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2382428"/>
              </p:ext>
            </p:extLst>
          </p:nvPr>
        </p:nvGraphicFramePr>
        <p:xfrm>
          <a:off x="502920" y="719666"/>
          <a:ext cx="5303520" cy="5827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6459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 &amp; Bottom Line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02920" y="640080"/>
            <a:ext cx="11183112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2920" y="777240"/>
            <a:ext cx="4799868" cy="5047488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" y="777240"/>
            <a:ext cx="479986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905256"/>
            <a:ext cx="44341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161288"/>
            <a:ext cx="4434108" cy="459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{driver_1}</a:t>
            </a:r>
            <a:endParaRPr lang="en-US" sz="115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{driver_2}</a:t>
            </a:r>
            <a:endParaRPr lang="en-US" sz="115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{driver_3}</a:t>
            </a:r>
            <a:endParaRPr lang="en-US" sz="115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{driver_4}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577108" y="777240"/>
            <a:ext cx="6108924" cy="5047488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577108" y="777240"/>
            <a:ext cx="6108924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59988" y="905256"/>
            <a:ext cx="57431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59988" y="1197864"/>
            <a:ext cx="5743164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{bottom_line_summary}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5952744"/>
            <a:ext cx="11183112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5952744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{call_to_action}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66385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  ·  Confidential  ·  Page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6459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Methodology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02920" y="640080"/>
            <a:ext cx="11183112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2920" y="777240"/>
            <a:ext cx="5481828" cy="914400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" y="777240"/>
            <a:ext cx="548182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886968"/>
            <a:ext cx="5116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85800" y="1069848"/>
            <a:ext cx="51160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{data_source_1}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04204" y="777240"/>
            <a:ext cx="5481828" cy="914400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204204" y="777240"/>
            <a:ext cx="548182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87084" y="886968"/>
            <a:ext cx="5116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387084" y="1069848"/>
            <a:ext cx="51160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{data_source_2}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1874520"/>
            <a:ext cx="5481828" cy="914400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02920" y="1874520"/>
            <a:ext cx="548182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1984248"/>
            <a:ext cx="5116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85800" y="2167128"/>
            <a:ext cx="51160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{data_source_3}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04204" y="1874520"/>
            <a:ext cx="5481828" cy="914400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204204" y="1874520"/>
            <a:ext cx="548182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387084" y="1984248"/>
            <a:ext cx="5116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4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387084" y="2167128"/>
            <a:ext cx="51160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{data_source_4}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3099816"/>
            <a:ext cx="11183112" cy="512064"/>
          </a:xfrm>
          <a:prstGeom prst="rect">
            <a:avLst/>
          </a:prstGeom>
          <a:solidFill>
            <a:srgbClr val="132035"/>
          </a:solidFill>
          <a:ln w="6350">
            <a:solidFill>
              <a:srgbClr val="1A2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5800" y="322783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Range 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{data_start_date} – {data_end_date}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Report Prepared 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{report_date}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" y="3758184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02920" y="4014216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{methodology_note}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02920" y="66385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{mbr_period}  ·  Confidential  ·  Page 8</a:t>
            </a:r>
            <a:endParaRPr lang="en-US" sz="7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72A42E4-F33E-02BE-02F0-0D6FC16534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17" t="36923" r="25309" b="46133"/>
          <a:stretch>
            <a:fillRect/>
          </a:stretch>
        </p:blipFill>
        <p:spPr>
          <a:xfrm>
            <a:off x="4201360" y="4963395"/>
            <a:ext cx="3959083" cy="8825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616</Words>
  <Application>Microsoft Office PowerPoint</Application>
  <PresentationFormat>Widescreen</PresentationFormat>
  <Paragraphs>123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MBR Executive Template v3</dc:title>
  <dc:subject>PptxGenJS Presentation</dc:subject>
  <dc:creator>Copilot</dc:creator>
  <cp:lastModifiedBy>Jonathan Scholtes</cp:lastModifiedBy>
  <cp:revision>7</cp:revision>
  <dcterms:created xsi:type="dcterms:W3CDTF">2026-06-18T01:43:33Z</dcterms:created>
  <dcterms:modified xsi:type="dcterms:W3CDTF">2026-06-22T15:17:26Z</dcterms:modified>
</cp:coreProperties>
</file>